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59" r:id="rId4"/>
    <p:sldId id="268" r:id="rId5"/>
    <p:sldId id="289" r:id="rId6"/>
    <p:sldId id="290" r:id="rId7"/>
    <p:sldId id="291" r:id="rId8"/>
    <p:sldId id="292" r:id="rId9"/>
    <p:sldId id="293" r:id="rId10"/>
    <p:sldId id="269" r:id="rId11"/>
    <p:sldId id="280" r:id="rId12"/>
    <p:sldId id="281" r:id="rId13"/>
    <p:sldId id="270" r:id="rId14"/>
    <p:sldId id="272" r:id="rId15"/>
    <p:sldId id="273" r:id="rId16"/>
    <p:sldId id="278" r:id="rId17"/>
    <p:sldId id="294" r:id="rId18"/>
    <p:sldId id="295" r:id="rId19"/>
    <p:sldId id="296" r:id="rId20"/>
    <p:sldId id="297" r:id="rId21"/>
    <p:sldId id="298" r:id="rId22"/>
    <p:sldId id="299" r:id="rId23"/>
    <p:sldId id="279" r:id="rId24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8" d="100"/>
          <a:sy n="78" d="100"/>
        </p:scale>
        <p:origin x="1594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4723" y="652167"/>
            <a:ext cx="2435860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Times New Roman" panose="02020503050405090304"/>
                <a:cs typeface="Times New Roman" panose="0202050305040509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Georgia" panose="02040502050405090303"/>
                <a:cs typeface="Georgia" panose="02040502050405090303"/>
              </a:defRPr>
            </a:lvl1pPr>
          </a:lstStyle>
          <a:p>
            <a:pPr marL="12700">
              <a:lnSpc>
                <a:spcPts val="1665"/>
              </a:lnSpc>
            </a:pPr>
            <a:r>
              <a:rPr dirty="0"/>
              <a:t>Excellence</a:t>
            </a:r>
            <a:r>
              <a:rPr spc="-3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Service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Times New Roman" panose="02020503050405090304"/>
                <a:cs typeface="Times New Roman" panose="0202050305040509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Georgia" panose="02040502050405090303"/>
                <a:cs typeface="Georgia" panose="02040502050405090303"/>
              </a:defRPr>
            </a:lvl1pPr>
          </a:lstStyle>
          <a:p>
            <a:pPr marL="12700">
              <a:lnSpc>
                <a:spcPts val="1665"/>
              </a:lnSpc>
            </a:pPr>
            <a:r>
              <a:rPr dirty="0"/>
              <a:t>Excellence</a:t>
            </a:r>
            <a:r>
              <a:rPr spc="-3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Service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Times New Roman" panose="02020503050405090304"/>
                <a:cs typeface="Times New Roman" panose="0202050305040509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Georgia" panose="02040502050405090303"/>
                <a:cs typeface="Georgia" panose="02040502050405090303"/>
              </a:defRPr>
            </a:lvl1pPr>
          </a:lstStyle>
          <a:p>
            <a:pPr marL="12700">
              <a:lnSpc>
                <a:spcPts val="1665"/>
              </a:lnSpc>
            </a:pPr>
            <a:r>
              <a:rPr dirty="0"/>
              <a:t>Excellence</a:t>
            </a:r>
            <a:r>
              <a:rPr spc="-3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Service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Times New Roman" panose="02020503050405090304"/>
                <a:cs typeface="Times New Roman" panose="0202050305040509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Georgia" panose="02040502050405090303"/>
                <a:cs typeface="Georgia" panose="02040502050405090303"/>
              </a:defRPr>
            </a:lvl1pPr>
          </a:lstStyle>
          <a:p>
            <a:pPr marL="12700">
              <a:lnSpc>
                <a:spcPts val="1665"/>
              </a:lnSpc>
            </a:pPr>
            <a:r>
              <a:rPr dirty="0"/>
              <a:t>Excellence</a:t>
            </a:r>
            <a:r>
              <a:rPr spc="-3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Service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Georgia" panose="02040502050405090303"/>
                <a:cs typeface="Georgia" panose="02040502050405090303"/>
              </a:defRPr>
            </a:lvl1pPr>
          </a:lstStyle>
          <a:p>
            <a:pPr marL="12700">
              <a:lnSpc>
                <a:spcPts val="1665"/>
              </a:lnSpc>
            </a:pPr>
            <a:r>
              <a:rPr dirty="0"/>
              <a:t>Excellence</a:t>
            </a:r>
            <a:r>
              <a:rPr spc="-3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Service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347773"/>
            <a:ext cx="9144000" cy="510540"/>
          </a:xfrm>
          <a:custGeom>
            <a:avLst/>
            <a:gdLst/>
            <a:ahLst/>
            <a:cxnLst/>
            <a:rect l="l" t="t" r="r" b="b"/>
            <a:pathLst>
              <a:path w="9144000" h="510540">
                <a:moveTo>
                  <a:pt x="9143999" y="510301"/>
                </a:moveTo>
                <a:lnTo>
                  <a:pt x="0" y="510301"/>
                </a:lnTo>
                <a:lnTo>
                  <a:pt x="0" y="30010"/>
                </a:lnTo>
                <a:lnTo>
                  <a:pt x="7623" y="18687"/>
                </a:lnTo>
                <a:lnTo>
                  <a:pt x="27954" y="5013"/>
                </a:lnTo>
                <a:lnTo>
                  <a:pt x="52974" y="0"/>
                </a:lnTo>
                <a:lnTo>
                  <a:pt x="9080074" y="0"/>
                </a:lnTo>
                <a:lnTo>
                  <a:pt x="9105095" y="5013"/>
                </a:lnTo>
                <a:lnTo>
                  <a:pt x="9125426" y="18687"/>
                </a:lnTo>
                <a:lnTo>
                  <a:pt x="9139082" y="38970"/>
                </a:lnTo>
                <a:lnTo>
                  <a:pt x="9143999" y="63811"/>
                </a:lnTo>
                <a:lnTo>
                  <a:pt x="9143999" y="510301"/>
                </a:lnTo>
                <a:close/>
              </a:path>
            </a:pathLst>
          </a:custGeom>
          <a:solidFill>
            <a:srgbClr val="0B539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347773"/>
            <a:ext cx="9144635" cy="510540"/>
          </a:xfrm>
          <a:custGeom>
            <a:avLst/>
            <a:gdLst/>
            <a:ahLst/>
            <a:cxnLst/>
            <a:rect l="l" t="t" r="r" b="b"/>
            <a:pathLst>
              <a:path w="9144635" h="510540">
                <a:moveTo>
                  <a:pt x="0" y="30010"/>
                </a:moveTo>
                <a:lnTo>
                  <a:pt x="7623" y="18687"/>
                </a:lnTo>
                <a:lnTo>
                  <a:pt x="27954" y="5013"/>
                </a:lnTo>
                <a:lnTo>
                  <a:pt x="52974" y="0"/>
                </a:lnTo>
                <a:lnTo>
                  <a:pt x="9080074" y="0"/>
                </a:lnTo>
                <a:lnTo>
                  <a:pt x="9125426" y="18687"/>
                </a:lnTo>
                <a:lnTo>
                  <a:pt x="9143999" y="63811"/>
                </a:lnTo>
                <a:lnTo>
                  <a:pt x="9144075" y="510226"/>
                </a:lnTo>
                <a:lnTo>
                  <a:pt x="0" y="510301"/>
                </a:lnTo>
              </a:path>
            </a:pathLst>
          </a:custGeom>
          <a:ln w="19049">
            <a:solidFill>
              <a:srgbClr val="0B539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6945800" y="274"/>
            <a:ext cx="2198370" cy="615315"/>
          </a:xfrm>
          <a:custGeom>
            <a:avLst/>
            <a:gdLst/>
            <a:ahLst/>
            <a:cxnLst/>
            <a:rect l="l" t="t" r="r" b="b"/>
            <a:pathLst>
              <a:path w="2198370" h="615315">
                <a:moveTo>
                  <a:pt x="2130260" y="614699"/>
                </a:moveTo>
                <a:lnTo>
                  <a:pt x="76839" y="614699"/>
                </a:lnTo>
                <a:lnTo>
                  <a:pt x="46944" y="608660"/>
                </a:lnTo>
                <a:lnTo>
                  <a:pt x="22518" y="592189"/>
                </a:lnTo>
                <a:lnTo>
                  <a:pt x="6043" y="567757"/>
                </a:lnTo>
                <a:lnTo>
                  <a:pt x="0" y="537834"/>
                </a:lnTo>
                <a:lnTo>
                  <a:pt x="0" y="0"/>
                </a:lnTo>
                <a:lnTo>
                  <a:pt x="2198200" y="0"/>
                </a:lnTo>
                <a:lnTo>
                  <a:pt x="2198200" y="571995"/>
                </a:lnTo>
                <a:lnTo>
                  <a:pt x="2184582" y="592189"/>
                </a:lnTo>
                <a:lnTo>
                  <a:pt x="2160157" y="608660"/>
                </a:lnTo>
                <a:lnTo>
                  <a:pt x="2130260" y="614699"/>
                </a:lnTo>
                <a:close/>
              </a:path>
            </a:pathLst>
          </a:custGeom>
          <a:solidFill>
            <a:srgbClr val="0B539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6945800" y="274"/>
            <a:ext cx="2198370" cy="615315"/>
          </a:xfrm>
          <a:custGeom>
            <a:avLst/>
            <a:gdLst/>
            <a:ahLst/>
            <a:cxnLst/>
            <a:rect l="l" t="t" r="r" b="b"/>
            <a:pathLst>
              <a:path w="2198370" h="615315">
                <a:moveTo>
                  <a:pt x="2198200" y="571995"/>
                </a:moveTo>
                <a:lnTo>
                  <a:pt x="2184582" y="592189"/>
                </a:lnTo>
                <a:lnTo>
                  <a:pt x="2160157" y="608660"/>
                </a:lnTo>
                <a:lnTo>
                  <a:pt x="2130260" y="614699"/>
                </a:lnTo>
                <a:lnTo>
                  <a:pt x="76839" y="614699"/>
                </a:lnTo>
                <a:lnTo>
                  <a:pt x="46944" y="608660"/>
                </a:lnTo>
                <a:lnTo>
                  <a:pt x="22518" y="592189"/>
                </a:lnTo>
                <a:lnTo>
                  <a:pt x="6043" y="567757"/>
                </a:lnTo>
                <a:lnTo>
                  <a:pt x="0" y="537834"/>
                </a:lnTo>
                <a:lnTo>
                  <a:pt x="0" y="0"/>
                </a:lnTo>
                <a:lnTo>
                  <a:pt x="2198200" y="0"/>
                </a:lnTo>
              </a:path>
            </a:pathLst>
          </a:custGeom>
          <a:ln w="19049">
            <a:solidFill>
              <a:srgbClr val="0B539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0" y="-27"/>
            <a:ext cx="9144000" cy="365125"/>
          </a:xfrm>
          <a:custGeom>
            <a:avLst/>
            <a:gdLst/>
            <a:ahLst/>
            <a:cxnLst/>
            <a:rect l="l" t="t" r="r" b="b"/>
            <a:pathLst>
              <a:path w="9144000" h="365125">
                <a:moveTo>
                  <a:pt x="9107125" y="364801"/>
                </a:moveTo>
                <a:lnTo>
                  <a:pt x="43574" y="364801"/>
                </a:lnTo>
                <a:lnTo>
                  <a:pt x="25693" y="361217"/>
                </a:lnTo>
                <a:lnTo>
                  <a:pt x="11150" y="351442"/>
                </a:lnTo>
                <a:lnTo>
                  <a:pt x="1375" y="336943"/>
                </a:lnTo>
                <a:lnTo>
                  <a:pt x="0" y="330114"/>
                </a:lnTo>
                <a:lnTo>
                  <a:pt x="0" y="0"/>
                </a:lnTo>
                <a:lnTo>
                  <a:pt x="9143999" y="0"/>
                </a:lnTo>
                <a:lnTo>
                  <a:pt x="9143999" y="344841"/>
                </a:lnTo>
                <a:lnTo>
                  <a:pt x="9139549" y="351442"/>
                </a:lnTo>
                <a:lnTo>
                  <a:pt x="9125006" y="361217"/>
                </a:lnTo>
                <a:lnTo>
                  <a:pt x="9107125" y="364801"/>
                </a:lnTo>
                <a:close/>
              </a:path>
            </a:pathLst>
          </a:custGeom>
          <a:solidFill>
            <a:srgbClr val="0B539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0" y="-27"/>
            <a:ext cx="9144000" cy="365125"/>
          </a:xfrm>
          <a:custGeom>
            <a:avLst/>
            <a:gdLst/>
            <a:ahLst/>
            <a:cxnLst/>
            <a:rect l="l" t="t" r="r" b="b"/>
            <a:pathLst>
              <a:path w="9144000" h="365125">
                <a:moveTo>
                  <a:pt x="0" y="0"/>
                </a:moveTo>
                <a:lnTo>
                  <a:pt x="9143999" y="0"/>
                </a:lnTo>
              </a:path>
              <a:path w="9144000" h="365125">
                <a:moveTo>
                  <a:pt x="9143999" y="344841"/>
                </a:moveTo>
                <a:lnTo>
                  <a:pt x="9139549" y="351442"/>
                </a:lnTo>
                <a:lnTo>
                  <a:pt x="9125006" y="361217"/>
                </a:lnTo>
                <a:lnTo>
                  <a:pt x="9107125" y="364801"/>
                </a:lnTo>
                <a:lnTo>
                  <a:pt x="43574" y="364801"/>
                </a:lnTo>
                <a:lnTo>
                  <a:pt x="25693" y="361217"/>
                </a:lnTo>
                <a:lnTo>
                  <a:pt x="11150" y="351442"/>
                </a:lnTo>
                <a:lnTo>
                  <a:pt x="1375" y="336943"/>
                </a:lnTo>
                <a:lnTo>
                  <a:pt x="0" y="330114"/>
                </a:lnTo>
              </a:path>
            </a:pathLst>
          </a:custGeom>
          <a:ln w="19049">
            <a:solidFill>
              <a:srgbClr val="0B539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4723" y="652167"/>
            <a:ext cx="5161915" cy="732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Times New Roman" panose="02020503050405090304"/>
                <a:cs typeface="Times New Roman" panose="0202050305040509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577340"/>
            <a:ext cx="82296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69711" y="6464304"/>
            <a:ext cx="1804670" cy="2279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Georgia" panose="02040502050405090303"/>
                <a:cs typeface="Georgia" panose="02040502050405090303"/>
              </a:defRPr>
            </a:lvl1pPr>
          </a:lstStyle>
          <a:p>
            <a:pPr marL="12700">
              <a:lnSpc>
                <a:spcPts val="1665"/>
              </a:lnSpc>
            </a:pPr>
            <a:r>
              <a:rPr dirty="0"/>
              <a:t>Excellence</a:t>
            </a:r>
            <a:r>
              <a:rPr spc="-3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Service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9507" y="0"/>
            <a:ext cx="9163050" cy="1479550"/>
            <a:chOff x="-9507" y="0"/>
            <a:chExt cx="9163050" cy="1479550"/>
          </a:xfrm>
        </p:grpSpPr>
        <p:sp>
          <p:nvSpPr>
            <p:cNvPr id="3" name="object 3"/>
            <p:cNvSpPr/>
            <p:nvPr/>
          </p:nvSpPr>
          <p:spPr>
            <a:xfrm>
              <a:off x="17" y="67299"/>
              <a:ext cx="9144000" cy="1402715"/>
            </a:xfrm>
            <a:custGeom>
              <a:avLst/>
              <a:gdLst/>
              <a:ahLst/>
              <a:cxnLst/>
              <a:rect l="l" t="t" r="r" b="b"/>
              <a:pathLst>
                <a:path w="9144000" h="1402715">
                  <a:moveTo>
                    <a:pt x="9143983" y="0"/>
                  </a:moveTo>
                  <a:lnTo>
                    <a:pt x="0" y="0"/>
                  </a:lnTo>
                  <a:lnTo>
                    <a:pt x="0" y="1138971"/>
                  </a:lnTo>
                  <a:lnTo>
                    <a:pt x="72188" y="1139008"/>
                  </a:lnTo>
                  <a:lnTo>
                    <a:pt x="143617" y="1139116"/>
                  </a:lnTo>
                  <a:lnTo>
                    <a:pt x="214294" y="1139295"/>
                  </a:lnTo>
                  <a:lnTo>
                    <a:pt x="284228" y="1139544"/>
                  </a:lnTo>
                  <a:lnTo>
                    <a:pt x="353426" y="1139862"/>
                  </a:lnTo>
                  <a:lnTo>
                    <a:pt x="421897" y="1140248"/>
                  </a:lnTo>
                  <a:lnTo>
                    <a:pt x="489648" y="1140700"/>
                  </a:lnTo>
                  <a:lnTo>
                    <a:pt x="556689" y="1141219"/>
                  </a:lnTo>
                  <a:lnTo>
                    <a:pt x="623027" y="1141803"/>
                  </a:lnTo>
                  <a:lnTo>
                    <a:pt x="688669" y="1142451"/>
                  </a:lnTo>
                  <a:lnTo>
                    <a:pt x="753626" y="1143161"/>
                  </a:lnTo>
                  <a:lnTo>
                    <a:pt x="817903" y="1143934"/>
                  </a:lnTo>
                  <a:lnTo>
                    <a:pt x="881510" y="1144768"/>
                  </a:lnTo>
                  <a:lnTo>
                    <a:pt x="944455" y="1145661"/>
                  </a:lnTo>
                  <a:lnTo>
                    <a:pt x="1006746" y="1146614"/>
                  </a:lnTo>
                  <a:lnTo>
                    <a:pt x="1068390" y="1147625"/>
                  </a:lnTo>
                  <a:lnTo>
                    <a:pt x="1129397" y="1148693"/>
                  </a:lnTo>
                  <a:lnTo>
                    <a:pt x="1189774" y="1149816"/>
                  </a:lnTo>
                  <a:lnTo>
                    <a:pt x="1249529" y="1150995"/>
                  </a:lnTo>
                  <a:lnTo>
                    <a:pt x="1308671" y="1152228"/>
                  </a:lnTo>
                  <a:lnTo>
                    <a:pt x="1367207" y="1153514"/>
                  </a:lnTo>
                  <a:lnTo>
                    <a:pt x="1425146" y="1154852"/>
                  </a:lnTo>
                  <a:lnTo>
                    <a:pt x="1482496" y="1156242"/>
                  </a:lnTo>
                  <a:lnTo>
                    <a:pt x="1539264" y="1157681"/>
                  </a:lnTo>
                  <a:lnTo>
                    <a:pt x="1595460" y="1159169"/>
                  </a:lnTo>
                  <a:lnTo>
                    <a:pt x="1651091" y="1160706"/>
                  </a:lnTo>
                  <a:lnTo>
                    <a:pt x="1706166" y="1162290"/>
                  </a:lnTo>
                  <a:lnTo>
                    <a:pt x="1760691" y="1163919"/>
                  </a:lnTo>
                  <a:lnTo>
                    <a:pt x="1814677" y="1165594"/>
                  </a:lnTo>
                  <a:lnTo>
                    <a:pt x="1868130" y="1167314"/>
                  </a:lnTo>
                  <a:lnTo>
                    <a:pt x="1921059" y="1169076"/>
                  </a:lnTo>
                  <a:lnTo>
                    <a:pt x="1973472" y="1170880"/>
                  </a:lnTo>
                  <a:lnTo>
                    <a:pt x="2025377" y="1172726"/>
                  </a:lnTo>
                  <a:lnTo>
                    <a:pt x="2076782" y="1174612"/>
                  </a:lnTo>
                  <a:lnTo>
                    <a:pt x="2127696" y="1176537"/>
                  </a:lnTo>
                  <a:lnTo>
                    <a:pt x="2178126" y="1178501"/>
                  </a:lnTo>
                  <a:lnTo>
                    <a:pt x="2228081" y="1180501"/>
                  </a:lnTo>
                  <a:lnTo>
                    <a:pt x="2277568" y="1182538"/>
                  </a:lnTo>
                  <a:lnTo>
                    <a:pt x="2326596" y="1184610"/>
                  </a:lnTo>
                  <a:lnTo>
                    <a:pt x="2375174" y="1186716"/>
                  </a:lnTo>
                  <a:lnTo>
                    <a:pt x="2423308" y="1188856"/>
                  </a:lnTo>
                  <a:lnTo>
                    <a:pt x="2471008" y="1191028"/>
                  </a:lnTo>
                  <a:lnTo>
                    <a:pt x="2518280" y="1193231"/>
                  </a:lnTo>
                  <a:lnTo>
                    <a:pt x="2565135" y="1195465"/>
                  </a:lnTo>
                  <a:lnTo>
                    <a:pt x="2611579" y="1197727"/>
                  </a:lnTo>
                  <a:lnTo>
                    <a:pt x="2657621" y="1200018"/>
                  </a:lnTo>
                  <a:lnTo>
                    <a:pt x="2703268" y="1202337"/>
                  </a:lnTo>
                  <a:lnTo>
                    <a:pt x="2748530" y="1204682"/>
                  </a:lnTo>
                  <a:lnTo>
                    <a:pt x="2793414" y="1207052"/>
                  </a:lnTo>
                  <a:lnTo>
                    <a:pt x="2837928" y="1209446"/>
                  </a:lnTo>
                  <a:lnTo>
                    <a:pt x="2882080" y="1211864"/>
                  </a:lnTo>
                  <a:lnTo>
                    <a:pt x="2925879" y="1214304"/>
                  </a:lnTo>
                  <a:lnTo>
                    <a:pt x="2969333" y="1216766"/>
                  </a:lnTo>
                  <a:lnTo>
                    <a:pt x="3012449" y="1219248"/>
                  </a:lnTo>
                  <a:lnTo>
                    <a:pt x="3055236" y="1221749"/>
                  </a:lnTo>
                  <a:lnTo>
                    <a:pt x="3097702" y="1224269"/>
                  </a:lnTo>
                  <a:lnTo>
                    <a:pt x="3139856" y="1226806"/>
                  </a:lnTo>
                  <a:lnTo>
                    <a:pt x="3181704" y="1229360"/>
                  </a:lnTo>
                  <a:lnTo>
                    <a:pt x="3223256" y="1231929"/>
                  </a:lnTo>
                  <a:lnTo>
                    <a:pt x="3264520" y="1234513"/>
                  </a:lnTo>
                  <a:lnTo>
                    <a:pt x="3305503" y="1237110"/>
                  </a:lnTo>
                  <a:lnTo>
                    <a:pt x="3346213" y="1239719"/>
                  </a:lnTo>
                  <a:lnTo>
                    <a:pt x="3386660" y="1242340"/>
                  </a:lnTo>
                  <a:lnTo>
                    <a:pt x="3426851" y="1244972"/>
                  </a:lnTo>
                  <a:lnTo>
                    <a:pt x="3466794" y="1247613"/>
                  </a:lnTo>
                  <a:lnTo>
                    <a:pt x="3506497" y="1250262"/>
                  </a:lnTo>
                  <a:lnTo>
                    <a:pt x="3545969" y="1252919"/>
                  </a:lnTo>
                  <a:lnTo>
                    <a:pt x="3585217" y="1255583"/>
                  </a:lnTo>
                  <a:lnTo>
                    <a:pt x="3624249" y="1258252"/>
                  </a:lnTo>
                  <a:lnTo>
                    <a:pt x="3663075" y="1260925"/>
                  </a:lnTo>
                  <a:lnTo>
                    <a:pt x="3701701" y="1263602"/>
                  </a:lnTo>
                  <a:lnTo>
                    <a:pt x="3740137" y="1266282"/>
                  </a:lnTo>
                  <a:lnTo>
                    <a:pt x="3778389" y="1268964"/>
                  </a:lnTo>
                  <a:lnTo>
                    <a:pt x="3816467" y="1271645"/>
                  </a:lnTo>
                  <a:lnTo>
                    <a:pt x="3892131" y="1277007"/>
                  </a:lnTo>
                  <a:lnTo>
                    <a:pt x="3967194" y="1282359"/>
                  </a:lnTo>
                  <a:lnTo>
                    <a:pt x="4041720" y="1287694"/>
                  </a:lnTo>
                  <a:lnTo>
                    <a:pt x="4115775" y="1293003"/>
                  </a:lnTo>
                  <a:lnTo>
                    <a:pt x="4152647" y="1295645"/>
                  </a:lnTo>
                  <a:lnTo>
                    <a:pt x="4226117" y="1300902"/>
                  </a:lnTo>
                  <a:lnTo>
                    <a:pt x="4299278" y="1306113"/>
                  </a:lnTo>
                  <a:lnTo>
                    <a:pt x="4372195" y="1311271"/>
                  </a:lnTo>
                  <a:lnTo>
                    <a:pt x="4444934" y="1316368"/>
                  </a:lnTo>
                  <a:lnTo>
                    <a:pt x="4517558" y="1321396"/>
                  </a:lnTo>
                  <a:lnTo>
                    <a:pt x="4590134" y="1326347"/>
                  </a:lnTo>
                  <a:lnTo>
                    <a:pt x="4662727" y="1331213"/>
                  </a:lnTo>
                  <a:lnTo>
                    <a:pt x="4735400" y="1335986"/>
                  </a:lnTo>
                  <a:lnTo>
                    <a:pt x="4808220" y="1340659"/>
                  </a:lnTo>
                  <a:lnTo>
                    <a:pt x="4881251" y="1345224"/>
                  </a:lnTo>
                  <a:lnTo>
                    <a:pt x="4954559" y="1349671"/>
                  </a:lnTo>
                  <a:lnTo>
                    <a:pt x="5028207" y="1353995"/>
                  </a:lnTo>
                  <a:lnTo>
                    <a:pt x="5102262" y="1358186"/>
                  </a:lnTo>
                  <a:lnTo>
                    <a:pt x="5176789" y="1362236"/>
                  </a:lnTo>
                  <a:lnTo>
                    <a:pt x="5251852" y="1366139"/>
                  </a:lnTo>
                  <a:lnTo>
                    <a:pt x="5327516" y="1369885"/>
                  </a:lnTo>
                  <a:lnTo>
                    <a:pt x="5365594" y="1371697"/>
                  </a:lnTo>
                  <a:lnTo>
                    <a:pt x="5403846" y="1373468"/>
                  </a:lnTo>
                  <a:lnTo>
                    <a:pt x="5442282" y="1375195"/>
                  </a:lnTo>
                  <a:lnTo>
                    <a:pt x="5480908" y="1376878"/>
                  </a:lnTo>
                  <a:lnTo>
                    <a:pt x="5519733" y="1378516"/>
                  </a:lnTo>
                  <a:lnTo>
                    <a:pt x="5558766" y="1380108"/>
                  </a:lnTo>
                  <a:lnTo>
                    <a:pt x="5598014" y="1381654"/>
                  </a:lnTo>
                  <a:lnTo>
                    <a:pt x="5637486" y="1383151"/>
                  </a:lnTo>
                  <a:lnTo>
                    <a:pt x="5677189" y="1384600"/>
                  </a:lnTo>
                  <a:lnTo>
                    <a:pt x="5717132" y="1385998"/>
                  </a:lnTo>
                  <a:lnTo>
                    <a:pt x="5757323" y="1387346"/>
                  </a:lnTo>
                  <a:lnTo>
                    <a:pt x="5797769" y="1388641"/>
                  </a:lnTo>
                  <a:lnTo>
                    <a:pt x="5838480" y="1389884"/>
                  </a:lnTo>
                  <a:lnTo>
                    <a:pt x="5879463" y="1391073"/>
                  </a:lnTo>
                  <a:lnTo>
                    <a:pt x="5920727" y="1392207"/>
                  </a:lnTo>
                  <a:lnTo>
                    <a:pt x="5962279" y="1393285"/>
                  </a:lnTo>
                  <a:lnTo>
                    <a:pt x="6004127" y="1394306"/>
                  </a:lnTo>
                  <a:lnTo>
                    <a:pt x="6046281" y="1395270"/>
                  </a:lnTo>
                  <a:lnTo>
                    <a:pt x="6088747" y="1396175"/>
                  </a:lnTo>
                  <a:lnTo>
                    <a:pt x="6131534" y="1397019"/>
                  </a:lnTo>
                  <a:lnTo>
                    <a:pt x="6174650" y="1397803"/>
                  </a:lnTo>
                  <a:lnTo>
                    <a:pt x="6218104" y="1398525"/>
                  </a:lnTo>
                  <a:lnTo>
                    <a:pt x="6261903" y="1399185"/>
                  </a:lnTo>
                  <a:lnTo>
                    <a:pt x="6306055" y="1399780"/>
                  </a:lnTo>
                  <a:lnTo>
                    <a:pt x="6350569" y="1400311"/>
                  </a:lnTo>
                  <a:lnTo>
                    <a:pt x="6395453" y="1400776"/>
                  </a:lnTo>
                  <a:lnTo>
                    <a:pt x="6440714" y="1401174"/>
                  </a:lnTo>
                  <a:lnTo>
                    <a:pt x="6486362" y="1401505"/>
                  </a:lnTo>
                  <a:lnTo>
                    <a:pt x="6532404" y="1401767"/>
                  </a:lnTo>
                  <a:lnTo>
                    <a:pt x="6578848" y="1401959"/>
                  </a:lnTo>
                  <a:lnTo>
                    <a:pt x="6625702" y="1402080"/>
                  </a:lnTo>
                  <a:lnTo>
                    <a:pt x="6672975" y="1402129"/>
                  </a:lnTo>
                  <a:lnTo>
                    <a:pt x="6720675" y="1402106"/>
                  </a:lnTo>
                  <a:lnTo>
                    <a:pt x="6768809" y="1402009"/>
                  </a:lnTo>
                  <a:lnTo>
                    <a:pt x="6817387" y="1401838"/>
                  </a:lnTo>
                  <a:lnTo>
                    <a:pt x="6866415" y="1401591"/>
                  </a:lnTo>
                  <a:lnTo>
                    <a:pt x="6915902" y="1401267"/>
                  </a:lnTo>
                  <a:lnTo>
                    <a:pt x="6965857" y="1400865"/>
                  </a:lnTo>
                  <a:lnTo>
                    <a:pt x="7016287" y="1400385"/>
                  </a:lnTo>
                  <a:lnTo>
                    <a:pt x="7067201" y="1399825"/>
                  </a:lnTo>
                  <a:lnTo>
                    <a:pt x="7118606" y="1399185"/>
                  </a:lnTo>
                  <a:lnTo>
                    <a:pt x="7170511" y="1398463"/>
                  </a:lnTo>
                  <a:lnTo>
                    <a:pt x="7222924" y="1397658"/>
                  </a:lnTo>
                  <a:lnTo>
                    <a:pt x="7275853" y="1396770"/>
                  </a:lnTo>
                  <a:lnTo>
                    <a:pt x="7329306" y="1395797"/>
                  </a:lnTo>
                  <a:lnTo>
                    <a:pt x="7383291" y="1394739"/>
                  </a:lnTo>
                  <a:lnTo>
                    <a:pt x="7437817" y="1393594"/>
                  </a:lnTo>
                  <a:lnTo>
                    <a:pt x="7492892" y="1392361"/>
                  </a:lnTo>
                  <a:lnTo>
                    <a:pt x="7548523" y="1391040"/>
                  </a:lnTo>
                  <a:lnTo>
                    <a:pt x="7604718" y="1389629"/>
                  </a:lnTo>
                  <a:lnTo>
                    <a:pt x="7661487" y="1388128"/>
                  </a:lnTo>
                  <a:lnTo>
                    <a:pt x="7718837" y="1386536"/>
                  </a:lnTo>
                  <a:lnTo>
                    <a:pt x="7776776" y="1384850"/>
                  </a:lnTo>
                  <a:lnTo>
                    <a:pt x="7835312" y="1383072"/>
                  </a:lnTo>
                  <a:lnTo>
                    <a:pt x="7894454" y="1381198"/>
                  </a:lnTo>
                  <a:lnTo>
                    <a:pt x="7954209" y="1379230"/>
                  </a:lnTo>
                  <a:lnTo>
                    <a:pt x="8014586" y="1377165"/>
                  </a:lnTo>
                  <a:lnTo>
                    <a:pt x="8075592" y="1375002"/>
                  </a:lnTo>
                  <a:lnTo>
                    <a:pt x="8137237" y="1372741"/>
                  </a:lnTo>
                  <a:lnTo>
                    <a:pt x="8199528" y="1370380"/>
                  </a:lnTo>
                  <a:lnTo>
                    <a:pt x="8262473" y="1367919"/>
                  </a:lnTo>
                  <a:lnTo>
                    <a:pt x="8326080" y="1365357"/>
                  </a:lnTo>
                  <a:lnTo>
                    <a:pt x="8390357" y="1362692"/>
                  </a:lnTo>
                  <a:lnTo>
                    <a:pt x="8455313" y="1359924"/>
                  </a:lnTo>
                  <a:lnTo>
                    <a:pt x="8520956" y="1357051"/>
                  </a:lnTo>
                  <a:lnTo>
                    <a:pt x="8587294" y="1354073"/>
                  </a:lnTo>
                  <a:lnTo>
                    <a:pt x="8654334" y="1350989"/>
                  </a:lnTo>
                  <a:lnTo>
                    <a:pt x="8722086" y="1347797"/>
                  </a:lnTo>
                  <a:lnTo>
                    <a:pt x="8790557" y="1344497"/>
                  </a:lnTo>
                  <a:lnTo>
                    <a:pt x="8859755" y="1341087"/>
                  </a:lnTo>
                  <a:lnTo>
                    <a:pt x="8929689" y="1337568"/>
                  </a:lnTo>
                  <a:lnTo>
                    <a:pt x="9000366" y="1333936"/>
                  </a:lnTo>
                  <a:lnTo>
                    <a:pt x="9071795" y="1330193"/>
                  </a:lnTo>
                  <a:lnTo>
                    <a:pt x="9143983" y="1326336"/>
                  </a:lnTo>
                  <a:lnTo>
                    <a:pt x="9143983" y="0"/>
                  </a:lnTo>
                  <a:close/>
                </a:path>
              </a:pathLst>
            </a:custGeom>
            <a:ln w="19049">
              <a:solidFill>
                <a:srgbClr val="0B539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7" y="0"/>
              <a:ext cx="9144000" cy="1402715"/>
            </a:xfrm>
            <a:custGeom>
              <a:avLst/>
              <a:gdLst/>
              <a:ahLst/>
              <a:cxnLst/>
              <a:rect l="l" t="t" r="r" b="b"/>
              <a:pathLst>
                <a:path w="9144000" h="1402715">
                  <a:moveTo>
                    <a:pt x="6672975" y="1402129"/>
                  </a:moveTo>
                  <a:lnTo>
                    <a:pt x="6625702" y="1402080"/>
                  </a:lnTo>
                  <a:lnTo>
                    <a:pt x="6578848" y="1401959"/>
                  </a:lnTo>
                  <a:lnTo>
                    <a:pt x="6532404" y="1401767"/>
                  </a:lnTo>
                  <a:lnTo>
                    <a:pt x="6486362" y="1401505"/>
                  </a:lnTo>
                  <a:lnTo>
                    <a:pt x="6440714" y="1401174"/>
                  </a:lnTo>
                  <a:lnTo>
                    <a:pt x="6395453" y="1400776"/>
                  </a:lnTo>
                  <a:lnTo>
                    <a:pt x="6350569" y="1400311"/>
                  </a:lnTo>
                  <a:lnTo>
                    <a:pt x="6306055" y="1399780"/>
                  </a:lnTo>
                  <a:lnTo>
                    <a:pt x="6261903" y="1399185"/>
                  </a:lnTo>
                  <a:lnTo>
                    <a:pt x="6218104" y="1398525"/>
                  </a:lnTo>
                  <a:lnTo>
                    <a:pt x="6174650" y="1397803"/>
                  </a:lnTo>
                  <a:lnTo>
                    <a:pt x="6131534" y="1397019"/>
                  </a:lnTo>
                  <a:lnTo>
                    <a:pt x="6088747" y="1396174"/>
                  </a:lnTo>
                  <a:lnTo>
                    <a:pt x="6046281" y="1395270"/>
                  </a:lnTo>
                  <a:lnTo>
                    <a:pt x="6004127" y="1394306"/>
                  </a:lnTo>
                  <a:lnTo>
                    <a:pt x="5962279" y="1393285"/>
                  </a:lnTo>
                  <a:lnTo>
                    <a:pt x="5920727" y="1392207"/>
                  </a:lnTo>
                  <a:lnTo>
                    <a:pt x="5879463" y="1391073"/>
                  </a:lnTo>
                  <a:lnTo>
                    <a:pt x="5838480" y="1389884"/>
                  </a:lnTo>
                  <a:lnTo>
                    <a:pt x="5797769" y="1388641"/>
                  </a:lnTo>
                  <a:lnTo>
                    <a:pt x="5757323" y="1387346"/>
                  </a:lnTo>
                  <a:lnTo>
                    <a:pt x="5717132" y="1385998"/>
                  </a:lnTo>
                  <a:lnTo>
                    <a:pt x="5677189" y="1384600"/>
                  </a:lnTo>
                  <a:lnTo>
                    <a:pt x="5637486" y="1383151"/>
                  </a:lnTo>
                  <a:lnTo>
                    <a:pt x="5598014" y="1381654"/>
                  </a:lnTo>
                  <a:lnTo>
                    <a:pt x="5558766" y="1380108"/>
                  </a:lnTo>
                  <a:lnTo>
                    <a:pt x="5519733" y="1378516"/>
                  </a:lnTo>
                  <a:lnTo>
                    <a:pt x="5480908" y="1376878"/>
                  </a:lnTo>
                  <a:lnTo>
                    <a:pt x="5442282" y="1375195"/>
                  </a:lnTo>
                  <a:lnTo>
                    <a:pt x="5403846" y="1373468"/>
                  </a:lnTo>
                  <a:lnTo>
                    <a:pt x="5365594" y="1371697"/>
                  </a:lnTo>
                  <a:lnTo>
                    <a:pt x="5327516" y="1369885"/>
                  </a:lnTo>
                  <a:lnTo>
                    <a:pt x="5251852" y="1366139"/>
                  </a:lnTo>
                  <a:lnTo>
                    <a:pt x="5176789" y="1362236"/>
                  </a:lnTo>
                  <a:lnTo>
                    <a:pt x="5102262" y="1358186"/>
                  </a:lnTo>
                  <a:lnTo>
                    <a:pt x="5028207" y="1353995"/>
                  </a:lnTo>
                  <a:lnTo>
                    <a:pt x="4954559" y="1349671"/>
                  </a:lnTo>
                  <a:lnTo>
                    <a:pt x="4881251" y="1345224"/>
                  </a:lnTo>
                  <a:lnTo>
                    <a:pt x="4808220" y="1340659"/>
                  </a:lnTo>
                  <a:lnTo>
                    <a:pt x="4735400" y="1335986"/>
                  </a:lnTo>
                  <a:lnTo>
                    <a:pt x="4662727" y="1331213"/>
                  </a:lnTo>
                  <a:lnTo>
                    <a:pt x="4590134" y="1326347"/>
                  </a:lnTo>
                  <a:lnTo>
                    <a:pt x="4517558" y="1321396"/>
                  </a:lnTo>
                  <a:lnTo>
                    <a:pt x="4444934" y="1316368"/>
                  </a:lnTo>
                  <a:lnTo>
                    <a:pt x="4372195" y="1311271"/>
                  </a:lnTo>
                  <a:lnTo>
                    <a:pt x="4299278" y="1306113"/>
                  </a:lnTo>
                  <a:lnTo>
                    <a:pt x="4226117" y="1300902"/>
                  </a:lnTo>
                  <a:lnTo>
                    <a:pt x="4152647" y="1295645"/>
                  </a:lnTo>
                  <a:lnTo>
                    <a:pt x="4078803" y="1290352"/>
                  </a:lnTo>
                  <a:lnTo>
                    <a:pt x="4041720" y="1287694"/>
                  </a:lnTo>
                  <a:lnTo>
                    <a:pt x="3967194" y="1282359"/>
                  </a:lnTo>
                  <a:lnTo>
                    <a:pt x="3892131" y="1277007"/>
                  </a:lnTo>
                  <a:lnTo>
                    <a:pt x="3816467" y="1271645"/>
                  </a:lnTo>
                  <a:lnTo>
                    <a:pt x="3778389" y="1268963"/>
                  </a:lnTo>
                  <a:lnTo>
                    <a:pt x="3740137" y="1266282"/>
                  </a:lnTo>
                  <a:lnTo>
                    <a:pt x="3701701" y="1263602"/>
                  </a:lnTo>
                  <a:lnTo>
                    <a:pt x="3663075" y="1260925"/>
                  </a:lnTo>
                  <a:lnTo>
                    <a:pt x="3624249" y="1258252"/>
                  </a:lnTo>
                  <a:lnTo>
                    <a:pt x="3585217" y="1255583"/>
                  </a:lnTo>
                  <a:lnTo>
                    <a:pt x="3545969" y="1252919"/>
                  </a:lnTo>
                  <a:lnTo>
                    <a:pt x="3506497" y="1250262"/>
                  </a:lnTo>
                  <a:lnTo>
                    <a:pt x="3466794" y="1247613"/>
                  </a:lnTo>
                  <a:lnTo>
                    <a:pt x="3426851" y="1244972"/>
                  </a:lnTo>
                  <a:lnTo>
                    <a:pt x="3386660" y="1242340"/>
                  </a:lnTo>
                  <a:lnTo>
                    <a:pt x="3346213" y="1239719"/>
                  </a:lnTo>
                  <a:lnTo>
                    <a:pt x="3305503" y="1237110"/>
                  </a:lnTo>
                  <a:lnTo>
                    <a:pt x="3264520" y="1234513"/>
                  </a:lnTo>
                  <a:lnTo>
                    <a:pt x="3223256" y="1231929"/>
                  </a:lnTo>
                  <a:lnTo>
                    <a:pt x="3181704" y="1229360"/>
                  </a:lnTo>
                  <a:lnTo>
                    <a:pt x="3139856" y="1226806"/>
                  </a:lnTo>
                  <a:lnTo>
                    <a:pt x="3097702" y="1224269"/>
                  </a:lnTo>
                  <a:lnTo>
                    <a:pt x="3055236" y="1221749"/>
                  </a:lnTo>
                  <a:lnTo>
                    <a:pt x="3012449" y="1219248"/>
                  </a:lnTo>
                  <a:lnTo>
                    <a:pt x="2969333" y="1216766"/>
                  </a:lnTo>
                  <a:lnTo>
                    <a:pt x="2925879" y="1214304"/>
                  </a:lnTo>
                  <a:lnTo>
                    <a:pt x="2882080" y="1211864"/>
                  </a:lnTo>
                  <a:lnTo>
                    <a:pt x="2837928" y="1209446"/>
                  </a:lnTo>
                  <a:lnTo>
                    <a:pt x="2793414" y="1207052"/>
                  </a:lnTo>
                  <a:lnTo>
                    <a:pt x="2748530" y="1204682"/>
                  </a:lnTo>
                  <a:lnTo>
                    <a:pt x="2703268" y="1202337"/>
                  </a:lnTo>
                  <a:lnTo>
                    <a:pt x="2657621" y="1200018"/>
                  </a:lnTo>
                  <a:lnTo>
                    <a:pt x="2611579" y="1197727"/>
                  </a:lnTo>
                  <a:lnTo>
                    <a:pt x="2565135" y="1195465"/>
                  </a:lnTo>
                  <a:lnTo>
                    <a:pt x="2518280" y="1193231"/>
                  </a:lnTo>
                  <a:lnTo>
                    <a:pt x="2471008" y="1191028"/>
                  </a:lnTo>
                  <a:lnTo>
                    <a:pt x="2423308" y="1188856"/>
                  </a:lnTo>
                  <a:lnTo>
                    <a:pt x="2375174" y="1186716"/>
                  </a:lnTo>
                  <a:lnTo>
                    <a:pt x="2326596" y="1184610"/>
                  </a:lnTo>
                  <a:lnTo>
                    <a:pt x="2277568" y="1182538"/>
                  </a:lnTo>
                  <a:lnTo>
                    <a:pt x="2228081" y="1180501"/>
                  </a:lnTo>
                  <a:lnTo>
                    <a:pt x="2178126" y="1178501"/>
                  </a:lnTo>
                  <a:lnTo>
                    <a:pt x="2127696" y="1176537"/>
                  </a:lnTo>
                  <a:lnTo>
                    <a:pt x="2076782" y="1174612"/>
                  </a:lnTo>
                  <a:lnTo>
                    <a:pt x="2025377" y="1172726"/>
                  </a:lnTo>
                  <a:lnTo>
                    <a:pt x="1973472" y="1170880"/>
                  </a:lnTo>
                  <a:lnTo>
                    <a:pt x="1921059" y="1169076"/>
                  </a:lnTo>
                  <a:lnTo>
                    <a:pt x="1868130" y="1167314"/>
                  </a:lnTo>
                  <a:lnTo>
                    <a:pt x="1814677" y="1165594"/>
                  </a:lnTo>
                  <a:lnTo>
                    <a:pt x="1760691" y="1163919"/>
                  </a:lnTo>
                  <a:lnTo>
                    <a:pt x="1706166" y="1162290"/>
                  </a:lnTo>
                  <a:lnTo>
                    <a:pt x="1651091" y="1160706"/>
                  </a:lnTo>
                  <a:lnTo>
                    <a:pt x="1595460" y="1159169"/>
                  </a:lnTo>
                  <a:lnTo>
                    <a:pt x="1539264" y="1157681"/>
                  </a:lnTo>
                  <a:lnTo>
                    <a:pt x="1482496" y="1156242"/>
                  </a:lnTo>
                  <a:lnTo>
                    <a:pt x="1425146" y="1154852"/>
                  </a:lnTo>
                  <a:lnTo>
                    <a:pt x="1367207" y="1153514"/>
                  </a:lnTo>
                  <a:lnTo>
                    <a:pt x="1308671" y="1152228"/>
                  </a:lnTo>
                  <a:lnTo>
                    <a:pt x="1249529" y="1150995"/>
                  </a:lnTo>
                  <a:lnTo>
                    <a:pt x="1189774" y="1149816"/>
                  </a:lnTo>
                  <a:lnTo>
                    <a:pt x="1129397" y="1148693"/>
                  </a:lnTo>
                  <a:lnTo>
                    <a:pt x="1068390" y="1147625"/>
                  </a:lnTo>
                  <a:lnTo>
                    <a:pt x="1006746" y="1146614"/>
                  </a:lnTo>
                  <a:lnTo>
                    <a:pt x="944455" y="1145661"/>
                  </a:lnTo>
                  <a:lnTo>
                    <a:pt x="881510" y="1144768"/>
                  </a:lnTo>
                  <a:lnTo>
                    <a:pt x="817903" y="1143934"/>
                  </a:lnTo>
                  <a:lnTo>
                    <a:pt x="753626" y="1143161"/>
                  </a:lnTo>
                  <a:lnTo>
                    <a:pt x="688669" y="1142451"/>
                  </a:lnTo>
                  <a:lnTo>
                    <a:pt x="623027" y="1141803"/>
                  </a:lnTo>
                  <a:lnTo>
                    <a:pt x="556689" y="1141219"/>
                  </a:lnTo>
                  <a:lnTo>
                    <a:pt x="489648" y="1140700"/>
                  </a:lnTo>
                  <a:lnTo>
                    <a:pt x="421897" y="1140248"/>
                  </a:lnTo>
                  <a:lnTo>
                    <a:pt x="353426" y="1139862"/>
                  </a:lnTo>
                  <a:lnTo>
                    <a:pt x="284228" y="1139544"/>
                  </a:lnTo>
                  <a:lnTo>
                    <a:pt x="214294" y="1139295"/>
                  </a:lnTo>
                  <a:lnTo>
                    <a:pt x="143617" y="1139116"/>
                  </a:lnTo>
                  <a:lnTo>
                    <a:pt x="72188" y="1139008"/>
                  </a:lnTo>
                  <a:lnTo>
                    <a:pt x="0" y="1138971"/>
                  </a:lnTo>
                  <a:lnTo>
                    <a:pt x="0" y="0"/>
                  </a:lnTo>
                  <a:lnTo>
                    <a:pt x="9143983" y="0"/>
                  </a:lnTo>
                  <a:lnTo>
                    <a:pt x="9143983" y="1326336"/>
                  </a:lnTo>
                  <a:lnTo>
                    <a:pt x="9071795" y="1330193"/>
                  </a:lnTo>
                  <a:lnTo>
                    <a:pt x="9000366" y="1333936"/>
                  </a:lnTo>
                  <a:lnTo>
                    <a:pt x="8929689" y="1337568"/>
                  </a:lnTo>
                  <a:lnTo>
                    <a:pt x="8859755" y="1341087"/>
                  </a:lnTo>
                  <a:lnTo>
                    <a:pt x="8790557" y="1344497"/>
                  </a:lnTo>
                  <a:lnTo>
                    <a:pt x="8722086" y="1347797"/>
                  </a:lnTo>
                  <a:lnTo>
                    <a:pt x="8654334" y="1350989"/>
                  </a:lnTo>
                  <a:lnTo>
                    <a:pt x="8587294" y="1354073"/>
                  </a:lnTo>
                  <a:lnTo>
                    <a:pt x="8520956" y="1357051"/>
                  </a:lnTo>
                  <a:lnTo>
                    <a:pt x="8455313" y="1359924"/>
                  </a:lnTo>
                  <a:lnTo>
                    <a:pt x="8390357" y="1362692"/>
                  </a:lnTo>
                  <a:lnTo>
                    <a:pt x="8326080" y="1365357"/>
                  </a:lnTo>
                  <a:lnTo>
                    <a:pt x="8262473" y="1367919"/>
                  </a:lnTo>
                  <a:lnTo>
                    <a:pt x="8199528" y="1370380"/>
                  </a:lnTo>
                  <a:lnTo>
                    <a:pt x="8137237" y="1372741"/>
                  </a:lnTo>
                  <a:lnTo>
                    <a:pt x="8075592" y="1375002"/>
                  </a:lnTo>
                  <a:lnTo>
                    <a:pt x="8014586" y="1377165"/>
                  </a:lnTo>
                  <a:lnTo>
                    <a:pt x="7954209" y="1379230"/>
                  </a:lnTo>
                  <a:lnTo>
                    <a:pt x="7894454" y="1381198"/>
                  </a:lnTo>
                  <a:lnTo>
                    <a:pt x="7835312" y="1383072"/>
                  </a:lnTo>
                  <a:lnTo>
                    <a:pt x="7776776" y="1384850"/>
                  </a:lnTo>
                  <a:lnTo>
                    <a:pt x="7718837" y="1386536"/>
                  </a:lnTo>
                  <a:lnTo>
                    <a:pt x="7661487" y="1388128"/>
                  </a:lnTo>
                  <a:lnTo>
                    <a:pt x="7604718" y="1389629"/>
                  </a:lnTo>
                  <a:lnTo>
                    <a:pt x="7548523" y="1391040"/>
                  </a:lnTo>
                  <a:lnTo>
                    <a:pt x="7492892" y="1392361"/>
                  </a:lnTo>
                  <a:lnTo>
                    <a:pt x="7437817" y="1393594"/>
                  </a:lnTo>
                  <a:lnTo>
                    <a:pt x="7383291" y="1394739"/>
                  </a:lnTo>
                  <a:lnTo>
                    <a:pt x="7329306" y="1395797"/>
                  </a:lnTo>
                  <a:lnTo>
                    <a:pt x="7275853" y="1396770"/>
                  </a:lnTo>
                  <a:lnTo>
                    <a:pt x="7222924" y="1397658"/>
                  </a:lnTo>
                  <a:lnTo>
                    <a:pt x="7170511" y="1398463"/>
                  </a:lnTo>
                  <a:lnTo>
                    <a:pt x="7118606" y="1399185"/>
                  </a:lnTo>
                  <a:lnTo>
                    <a:pt x="7067201" y="1399825"/>
                  </a:lnTo>
                  <a:lnTo>
                    <a:pt x="7016287" y="1400385"/>
                  </a:lnTo>
                  <a:lnTo>
                    <a:pt x="6965857" y="1400865"/>
                  </a:lnTo>
                  <a:lnTo>
                    <a:pt x="6915902" y="1401267"/>
                  </a:lnTo>
                  <a:lnTo>
                    <a:pt x="6866415" y="1401591"/>
                  </a:lnTo>
                  <a:lnTo>
                    <a:pt x="6817387" y="1401838"/>
                  </a:lnTo>
                  <a:lnTo>
                    <a:pt x="6768809" y="1402009"/>
                  </a:lnTo>
                  <a:lnTo>
                    <a:pt x="6720675" y="1402106"/>
                  </a:lnTo>
                  <a:lnTo>
                    <a:pt x="6672975" y="1402129"/>
                  </a:lnTo>
                  <a:close/>
                </a:path>
              </a:pathLst>
            </a:custGeom>
            <a:solidFill>
              <a:srgbClr val="0B53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90546" y="342390"/>
              <a:ext cx="2463806" cy="779367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-9525" y="5910373"/>
            <a:ext cx="9163685" cy="957580"/>
            <a:chOff x="-9525" y="5910373"/>
            <a:chExt cx="9163685" cy="957580"/>
          </a:xfrm>
        </p:grpSpPr>
        <p:sp>
          <p:nvSpPr>
            <p:cNvPr id="7" name="object 7"/>
            <p:cNvSpPr/>
            <p:nvPr/>
          </p:nvSpPr>
          <p:spPr>
            <a:xfrm>
              <a:off x="0" y="5919898"/>
              <a:ext cx="9144000" cy="938530"/>
            </a:xfrm>
            <a:custGeom>
              <a:avLst/>
              <a:gdLst/>
              <a:ahLst/>
              <a:cxnLst/>
              <a:rect l="l" t="t" r="r" b="b"/>
              <a:pathLst>
                <a:path w="9144000" h="938529">
                  <a:moveTo>
                    <a:pt x="9143999" y="938101"/>
                  </a:moveTo>
                  <a:lnTo>
                    <a:pt x="0" y="938101"/>
                  </a:lnTo>
                  <a:lnTo>
                    <a:pt x="0" y="68971"/>
                  </a:lnTo>
                  <a:lnTo>
                    <a:pt x="23358" y="34353"/>
                  </a:lnTo>
                  <a:lnTo>
                    <a:pt x="60677" y="9216"/>
                  </a:lnTo>
                  <a:lnTo>
                    <a:pt x="106379" y="0"/>
                  </a:lnTo>
                  <a:lnTo>
                    <a:pt x="9026669" y="0"/>
                  </a:lnTo>
                  <a:lnTo>
                    <a:pt x="9072372" y="9216"/>
                  </a:lnTo>
                  <a:lnTo>
                    <a:pt x="9109691" y="34353"/>
                  </a:lnTo>
                  <a:lnTo>
                    <a:pt x="9134850" y="71640"/>
                  </a:lnTo>
                  <a:lnTo>
                    <a:pt x="9143999" y="117306"/>
                  </a:lnTo>
                  <a:lnTo>
                    <a:pt x="9143999" y="938101"/>
                  </a:lnTo>
                  <a:close/>
                </a:path>
              </a:pathLst>
            </a:custGeom>
            <a:solidFill>
              <a:srgbClr val="0B53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5919898"/>
              <a:ext cx="9144635" cy="938530"/>
            </a:xfrm>
            <a:custGeom>
              <a:avLst/>
              <a:gdLst/>
              <a:ahLst/>
              <a:cxnLst/>
              <a:rect l="l" t="t" r="r" b="b"/>
              <a:pathLst>
                <a:path w="9144635" h="938529">
                  <a:moveTo>
                    <a:pt x="0" y="68971"/>
                  </a:moveTo>
                  <a:lnTo>
                    <a:pt x="23358" y="34353"/>
                  </a:lnTo>
                  <a:lnTo>
                    <a:pt x="60677" y="9216"/>
                  </a:lnTo>
                  <a:lnTo>
                    <a:pt x="106379" y="0"/>
                  </a:lnTo>
                  <a:lnTo>
                    <a:pt x="9026669" y="0"/>
                  </a:lnTo>
                  <a:lnTo>
                    <a:pt x="9072372" y="9216"/>
                  </a:lnTo>
                  <a:lnTo>
                    <a:pt x="9109691" y="34353"/>
                  </a:lnTo>
                  <a:lnTo>
                    <a:pt x="9134850" y="71640"/>
                  </a:lnTo>
                  <a:lnTo>
                    <a:pt x="9143999" y="117306"/>
                  </a:lnTo>
                  <a:lnTo>
                    <a:pt x="9144075" y="938101"/>
                  </a:lnTo>
                  <a:lnTo>
                    <a:pt x="0" y="938101"/>
                  </a:lnTo>
                </a:path>
              </a:pathLst>
            </a:custGeom>
            <a:ln w="19049">
              <a:solidFill>
                <a:srgbClr val="0B539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11900" y="5985812"/>
            <a:ext cx="3348354" cy="7435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MISSION</a:t>
            </a:r>
            <a:endParaRPr sz="1400">
              <a:latin typeface="Georgia" panose="02040502050405090303"/>
              <a:cs typeface="Georgia" panose="02040502050405090303"/>
            </a:endParaRPr>
          </a:p>
          <a:p>
            <a:pPr marL="12065" marR="5080" algn="ctr">
              <a:lnSpc>
                <a:spcPct val="100000"/>
              </a:lnSpc>
              <a:spcBef>
                <a:spcPts val="10"/>
              </a:spcBef>
            </a:pPr>
            <a:r>
              <a:rPr sz="1100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CHRIST</a:t>
            </a:r>
            <a:r>
              <a:rPr sz="1100" spc="-25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 </a:t>
            </a:r>
            <a:r>
              <a:rPr sz="1100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is</a:t>
            </a:r>
            <a:r>
              <a:rPr sz="1100" spc="-20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 </a:t>
            </a:r>
            <a:r>
              <a:rPr sz="1100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a</a:t>
            </a:r>
            <a:r>
              <a:rPr sz="1100" spc="-20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nurturing</a:t>
            </a:r>
            <a:r>
              <a:rPr sz="1100" spc="-20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 </a:t>
            </a:r>
            <a:r>
              <a:rPr sz="1100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ground</a:t>
            </a:r>
            <a:r>
              <a:rPr sz="1100" spc="-20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 </a:t>
            </a:r>
            <a:r>
              <a:rPr sz="1100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for</a:t>
            </a:r>
            <a:r>
              <a:rPr sz="1100" spc="-20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 </a:t>
            </a:r>
            <a:r>
              <a:rPr sz="1100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an</a:t>
            </a:r>
            <a:r>
              <a:rPr sz="1100" spc="-25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individual’s </a:t>
            </a:r>
            <a:r>
              <a:rPr sz="1100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holistic</a:t>
            </a:r>
            <a:r>
              <a:rPr sz="1100" spc="-30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development</a:t>
            </a:r>
            <a:r>
              <a:rPr sz="1100" spc="-25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 </a:t>
            </a:r>
            <a:r>
              <a:rPr sz="1100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to</a:t>
            </a:r>
            <a:r>
              <a:rPr sz="1100" spc="-25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 </a:t>
            </a:r>
            <a:r>
              <a:rPr sz="1100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make</a:t>
            </a:r>
            <a:r>
              <a:rPr sz="1100" spc="-25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effective</a:t>
            </a:r>
            <a:r>
              <a:rPr sz="1100" spc="-25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 </a:t>
            </a:r>
            <a:r>
              <a:rPr sz="1100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contribution</a:t>
            </a:r>
            <a:r>
              <a:rPr sz="1100" spc="-25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 to </a:t>
            </a:r>
            <a:r>
              <a:rPr sz="1100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the</a:t>
            </a:r>
            <a:r>
              <a:rPr sz="1100" spc="-20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 </a:t>
            </a:r>
            <a:r>
              <a:rPr sz="1100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society</a:t>
            </a:r>
            <a:r>
              <a:rPr sz="1100" spc="-15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 </a:t>
            </a:r>
            <a:r>
              <a:rPr sz="1100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in</a:t>
            </a:r>
            <a:r>
              <a:rPr sz="1100" spc="-15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 </a:t>
            </a:r>
            <a:r>
              <a:rPr sz="1100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a</a:t>
            </a:r>
            <a:r>
              <a:rPr sz="1100" spc="-20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dynamic</a:t>
            </a:r>
            <a:r>
              <a:rPr sz="1100" spc="-15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environment</a:t>
            </a:r>
            <a:endParaRPr sz="1100">
              <a:latin typeface="Georgia" panose="02040502050405090303"/>
              <a:cs typeface="Georgia" panose="02040502050405090303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012870" y="6030135"/>
            <a:ext cx="1423035" cy="4083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VISION</a:t>
            </a:r>
            <a:endParaRPr sz="1400">
              <a:latin typeface="Georgia" panose="02040502050405090303"/>
              <a:cs typeface="Georgia" panose="02040502050405090303"/>
            </a:endParaRPr>
          </a:p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sz="1100" spc="-10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Excellence</a:t>
            </a:r>
            <a:r>
              <a:rPr sz="1100" spc="-20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 </a:t>
            </a:r>
            <a:r>
              <a:rPr sz="1100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and</a:t>
            </a:r>
            <a:r>
              <a:rPr sz="1100" spc="-15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Service</a:t>
            </a:r>
            <a:endParaRPr sz="1100">
              <a:latin typeface="Georgia" panose="02040502050405090303"/>
              <a:cs typeface="Georgia" panose="02040502050405090303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199149" y="5985812"/>
            <a:ext cx="2722880" cy="7435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CORE</a:t>
            </a:r>
            <a:r>
              <a:rPr sz="1400" b="1" spc="330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VALUES</a:t>
            </a:r>
            <a:endParaRPr sz="1400">
              <a:latin typeface="Georgia" panose="02040502050405090303"/>
              <a:cs typeface="Georgia" panose="02040502050405090303"/>
            </a:endParaRPr>
          </a:p>
          <a:p>
            <a:pPr marL="318135" marR="309880" algn="ctr">
              <a:lnSpc>
                <a:spcPct val="100000"/>
              </a:lnSpc>
              <a:spcBef>
                <a:spcPts val="10"/>
              </a:spcBef>
            </a:pPr>
            <a:r>
              <a:rPr sz="1100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Faith</a:t>
            </a:r>
            <a:r>
              <a:rPr sz="1100" spc="-20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 </a:t>
            </a:r>
            <a:r>
              <a:rPr sz="1100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in</a:t>
            </a:r>
            <a:r>
              <a:rPr sz="1100" spc="-15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 </a:t>
            </a:r>
            <a:r>
              <a:rPr sz="1100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God</a:t>
            </a:r>
            <a:r>
              <a:rPr sz="1100" spc="-15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 </a:t>
            </a:r>
            <a:r>
              <a:rPr sz="1100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|</a:t>
            </a:r>
            <a:r>
              <a:rPr sz="1100" spc="235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 </a:t>
            </a:r>
            <a:r>
              <a:rPr sz="1100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Moral</a:t>
            </a:r>
            <a:r>
              <a:rPr sz="1100" spc="-15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Uprightness </a:t>
            </a:r>
            <a:r>
              <a:rPr sz="1100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Love</a:t>
            </a:r>
            <a:r>
              <a:rPr sz="1100" spc="-40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 </a:t>
            </a:r>
            <a:r>
              <a:rPr sz="1100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of</a:t>
            </a:r>
            <a:r>
              <a:rPr sz="1100" spc="-40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 </a:t>
            </a:r>
            <a:r>
              <a:rPr sz="1100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Fellow</a:t>
            </a:r>
            <a:r>
              <a:rPr sz="1100" spc="-40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Beings</a:t>
            </a:r>
            <a:endParaRPr sz="1100">
              <a:latin typeface="Georgia" panose="02040502050405090303"/>
              <a:cs typeface="Georgia" panose="02040502050405090303"/>
            </a:endParaRPr>
          </a:p>
          <a:p>
            <a:pPr algn="ctr">
              <a:lnSpc>
                <a:spcPct val="100000"/>
              </a:lnSpc>
            </a:pPr>
            <a:r>
              <a:rPr sz="1100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Social </a:t>
            </a:r>
            <a:r>
              <a:rPr sz="1100" spc="-10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Responsibility</a:t>
            </a:r>
            <a:r>
              <a:rPr sz="1100" spc="5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 </a:t>
            </a:r>
            <a:r>
              <a:rPr sz="1100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|</a:t>
            </a:r>
            <a:r>
              <a:rPr sz="1100" spc="5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Pursuit</a:t>
            </a:r>
            <a:r>
              <a:rPr sz="1100" spc="5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 </a:t>
            </a:r>
            <a:r>
              <a:rPr sz="1100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of</a:t>
            </a:r>
            <a:r>
              <a:rPr sz="1100" spc="5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Excellence</a:t>
            </a:r>
            <a:endParaRPr sz="1100">
              <a:latin typeface="Georgia" panose="02040502050405090303"/>
              <a:cs typeface="Georgia" panose="02040502050405090303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1187504" y="2569790"/>
            <a:ext cx="7073766" cy="858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n-US" sz="3500" dirty="0">
                <a:solidFill>
                  <a:schemeClr val="tx2"/>
                </a:solidFill>
              </a:rPr>
              <a:t>NeuroCure </a:t>
            </a:r>
            <a:br>
              <a:rPr lang="en-US" sz="3500" dirty="0">
                <a:solidFill>
                  <a:schemeClr val="tx2"/>
                </a:solidFill>
              </a:rPr>
            </a:br>
            <a:r>
              <a:rPr lang="en-US" sz="2000" dirty="0">
                <a:solidFill>
                  <a:schemeClr val="tx2"/>
                </a:solidFill>
              </a:rPr>
              <a:t>(Brain Tumor Detection Software)</a:t>
            </a:r>
            <a:endParaRPr sz="2500" dirty="0">
              <a:solidFill>
                <a:schemeClr val="tx2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562296" y="4504055"/>
            <a:ext cx="3327095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Book Antiqua" panose="02040602050305030304" pitchFamily="18" charset="0"/>
              </a:rPr>
              <a:t>Darin Davis</a:t>
            </a:r>
            <a:r>
              <a:rPr lang="en-US" altLang="en-IN" dirty="0">
                <a:latin typeface="Book Antiqua" panose="02040602050305030304" pitchFamily="18" charset="0"/>
              </a:rPr>
              <a:t> </a:t>
            </a:r>
            <a:r>
              <a:rPr lang="en-IN" dirty="0">
                <a:latin typeface="Book Antiqua" panose="02040602050305030304" pitchFamily="18" charset="0"/>
              </a:rPr>
              <a:t>(2262214)</a:t>
            </a:r>
          </a:p>
          <a:p>
            <a:r>
              <a:rPr lang="en-IN" dirty="0">
                <a:latin typeface="Book Antiqua" panose="02040602050305030304" pitchFamily="18" charset="0"/>
              </a:rPr>
              <a:t>Ryan Netto</a:t>
            </a:r>
            <a:r>
              <a:rPr lang="en-US" altLang="en-IN" dirty="0">
                <a:latin typeface="Book Antiqua" panose="02040602050305030304" pitchFamily="18" charset="0"/>
              </a:rPr>
              <a:t> </a:t>
            </a:r>
            <a:r>
              <a:rPr lang="en-IN" dirty="0">
                <a:latin typeface="Book Antiqua" panose="02040602050305030304" pitchFamily="18" charset="0"/>
              </a:rPr>
              <a:t>(2262248)</a:t>
            </a:r>
          </a:p>
          <a:p>
            <a:r>
              <a:rPr lang="en-IN" dirty="0">
                <a:latin typeface="Book Antiqua" panose="02040602050305030304" pitchFamily="18" charset="0"/>
              </a:rPr>
              <a:t>Tom Jimmy</a:t>
            </a:r>
            <a:r>
              <a:rPr lang="en-US" altLang="en-IN" dirty="0">
                <a:latin typeface="Book Antiqua" panose="02040602050305030304" pitchFamily="18" charset="0"/>
              </a:rPr>
              <a:t> </a:t>
            </a:r>
            <a:r>
              <a:rPr lang="en-IN" dirty="0">
                <a:latin typeface="Book Antiqua" panose="02040602050305030304" pitchFamily="18" charset="0"/>
              </a:rPr>
              <a:t>(2262261)</a:t>
            </a:r>
            <a:endParaRPr lang="en-IN" sz="1800" dirty="0">
              <a:latin typeface="Book Antiqua" panose="0204060205030503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04660" y="4724265"/>
            <a:ext cx="3872675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Book Antiqua" panose="02040602050305030304" pitchFamily="18" charset="0"/>
              </a:rPr>
              <a:t>Guide</a:t>
            </a:r>
            <a:r>
              <a:rPr lang="en-IN" sz="1800" b="1" dirty="0">
                <a:latin typeface="Book Antiqua" panose="02040602050305030304" pitchFamily="18" charset="0"/>
              </a:rPr>
              <a:t>:</a:t>
            </a:r>
            <a:r>
              <a:rPr lang="en-IN" dirty="0">
                <a:latin typeface="Book Antiqua" panose="02040602050305030304" pitchFamily="18" charset="0"/>
              </a:rPr>
              <a:t> </a:t>
            </a:r>
            <a:r>
              <a:rPr lang="en-IN" dirty="0" err="1">
                <a:latin typeface="Book Antiqua" panose="02040602050305030304" pitchFamily="18" charset="0"/>
              </a:rPr>
              <a:t>Prof.Wims</a:t>
            </a:r>
            <a:r>
              <a:rPr lang="en-IN" dirty="0">
                <a:latin typeface="Book Antiqua" panose="02040602050305030304" pitchFamily="18" charset="0"/>
              </a:rPr>
              <a:t> Magdalene Mary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06227" y="145809"/>
            <a:ext cx="1685925" cy="4229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CHRIST</a:t>
            </a:r>
            <a:endParaRPr sz="1400">
              <a:latin typeface="Georgia" panose="02040502050405090303"/>
              <a:cs typeface="Georgia" panose="02040502050405090303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Deemed</a:t>
            </a:r>
            <a:r>
              <a:rPr sz="1200" spc="-25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 </a:t>
            </a:r>
            <a:r>
              <a:rPr sz="1200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to</a:t>
            </a:r>
            <a:r>
              <a:rPr sz="1200" spc="-20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 </a:t>
            </a:r>
            <a:r>
              <a:rPr sz="1200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be</a:t>
            </a:r>
            <a:r>
              <a:rPr sz="1200" spc="-20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University</a:t>
            </a:r>
            <a:endParaRPr sz="1200">
              <a:latin typeface="Georgia" panose="02040502050405090303"/>
              <a:cs typeface="Georgia" panose="02040502050405090303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5"/>
              </a:lnSpc>
            </a:pPr>
            <a:r>
              <a:rPr dirty="0"/>
              <a:t>Excellence</a:t>
            </a:r>
            <a:r>
              <a:rPr spc="-3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Service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33600" y="1143278"/>
            <a:ext cx="5161915" cy="732037"/>
          </a:xfrm>
          <a:prstGeom prst="rect">
            <a:avLst/>
          </a:prstGeom>
        </p:spPr>
        <p:txBody>
          <a:bodyPr vert="horz" wrap="square" lIns="0" tIns="2366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ABSTRACT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57642"/>
            <a:ext cx="8358752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This project focuses on improving the NeuroCure system for brain tumor classification using deep learning. The primary goal is to enhance inference speed and overall model performance for real-time diagnostic support. </a:t>
            </a:r>
          </a:p>
          <a:p>
            <a:r>
              <a:rPr lang="en-US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We aim to achieve this through model optimization techniques, including backbone architecture upgrades and accelerated deployment strategies. </a:t>
            </a:r>
          </a:p>
          <a:p>
            <a:r>
              <a:rPr lang="en-US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enhanced system will provide faster, more accurate, and explainable predictions, crucial for medical applications.</a:t>
            </a:r>
          </a:p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06227" y="145809"/>
            <a:ext cx="1685925" cy="4229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CHRIST</a:t>
            </a:r>
            <a:endParaRPr sz="1400">
              <a:latin typeface="Georgia" panose="02040502050405090303"/>
              <a:cs typeface="Georgia" panose="02040502050405090303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Deemed</a:t>
            </a:r>
            <a:r>
              <a:rPr sz="1200" spc="-25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 </a:t>
            </a:r>
            <a:r>
              <a:rPr sz="1200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to</a:t>
            </a:r>
            <a:r>
              <a:rPr sz="1200" spc="-20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 </a:t>
            </a:r>
            <a:r>
              <a:rPr sz="1200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be</a:t>
            </a:r>
            <a:r>
              <a:rPr sz="1200" spc="-20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University</a:t>
            </a:r>
            <a:endParaRPr sz="1200">
              <a:latin typeface="Georgia" panose="02040502050405090303"/>
              <a:cs typeface="Georgia" panose="02040502050405090303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5"/>
              </a:lnSpc>
            </a:pPr>
            <a:r>
              <a:rPr dirty="0"/>
              <a:t>Excellence</a:t>
            </a:r>
            <a:r>
              <a:rPr spc="-3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Service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4723" y="1295422"/>
            <a:ext cx="5161915" cy="732037"/>
          </a:xfrm>
          <a:prstGeom prst="rect">
            <a:avLst/>
          </a:prstGeom>
        </p:spPr>
        <p:txBody>
          <a:bodyPr vert="horz" wrap="square" lIns="0" tIns="29261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dirty="0"/>
              <a:t>PROBLEM STATEMENT</a:t>
            </a:r>
            <a:endParaRPr spc="-10" dirty="0"/>
          </a:p>
        </p:txBody>
      </p:sp>
      <p:sp>
        <p:nvSpPr>
          <p:cNvPr id="5" name="TextBox 4"/>
          <p:cNvSpPr txBox="1"/>
          <p:nvPr/>
        </p:nvSpPr>
        <p:spPr>
          <a:xfrm>
            <a:off x="384723" y="2285970"/>
            <a:ext cx="8225877" cy="4191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Problem Statement: 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Existing deep learning models for brain tumor classification, while accurate, often suffer from high inference latency, hindering their practical deployment in clinical situations.</a:t>
            </a:r>
          </a:p>
          <a:p>
            <a:pPr>
              <a:lnSpc>
                <a:spcPct val="150000"/>
              </a:lnSpc>
            </a:pPr>
            <a:endParaRPr lang="en-US" sz="2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</a:t>
            </a:r>
            <a:r>
              <a:rPr lang="en-US" sz="2000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NeuroCure</a:t>
            </a:r>
            <a:r>
              <a:rPr lang="en-US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project seeks to address this by optimizing model performance and inference speed, without compromising accuracy. </a:t>
            </a:r>
          </a:p>
          <a:p>
            <a:pPr>
              <a:lnSpc>
                <a:spcPct val="150000"/>
              </a:lnSpc>
            </a:pPr>
            <a:endParaRPr lang="en-US" sz="2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50000"/>
              </a:lnSpc>
            </a:pPr>
            <a:endParaRPr lang="en-US" sz="2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06227" y="145809"/>
            <a:ext cx="1685925" cy="4229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CHRIST</a:t>
            </a:r>
            <a:endParaRPr sz="1400" dirty="0">
              <a:latin typeface="Georgia" panose="02040502050405090303"/>
              <a:cs typeface="Georgia" panose="02040502050405090303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Deemed</a:t>
            </a:r>
            <a:r>
              <a:rPr sz="1200" spc="-25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 </a:t>
            </a:r>
            <a:r>
              <a:rPr sz="1200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to</a:t>
            </a:r>
            <a:r>
              <a:rPr sz="1200" spc="-20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 </a:t>
            </a:r>
            <a:r>
              <a:rPr sz="1200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be</a:t>
            </a:r>
            <a:r>
              <a:rPr sz="1200" spc="-20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University</a:t>
            </a:r>
            <a:endParaRPr sz="1200" dirty="0">
              <a:latin typeface="Georgia" panose="02040502050405090303"/>
              <a:cs typeface="Georgia" panose="02040502050405090303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5"/>
              </a:lnSpc>
            </a:pPr>
            <a:r>
              <a:rPr dirty="0"/>
              <a:t>Excellence</a:t>
            </a:r>
            <a:r>
              <a:rPr spc="-3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Service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09513" y="685822"/>
            <a:ext cx="5161915" cy="732037"/>
          </a:xfrm>
          <a:prstGeom prst="rect">
            <a:avLst/>
          </a:prstGeom>
        </p:spPr>
        <p:txBody>
          <a:bodyPr vert="horz" wrap="square" lIns="0" tIns="29261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dirty="0"/>
              <a:t>OBJECTIVE</a:t>
            </a:r>
            <a:endParaRPr spc="-10" dirty="0"/>
          </a:p>
        </p:txBody>
      </p:sp>
      <p:sp>
        <p:nvSpPr>
          <p:cNvPr id="5" name="TextBox 4"/>
          <p:cNvSpPr txBox="1"/>
          <p:nvPr/>
        </p:nvSpPr>
        <p:spPr>
          <a:xfrm>
            <a:off x="609600" y="1600200"/>
            <a:ext cx="8077200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To replace the current CNN backbone (e.g., </a:t>
            </a:r>
            <a:r>
              <a:rPr lang="en-US" sz="1600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ResNet</a:t>
            </a:r>
            <a:r>
              <a:rPr lang="en-US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) with more efficient architectures (e.g., EfficientNetV2 or MobileNetV3) to improve accuracy-per-FLOP and inference speed. </a:t>
            </a:r>
          </a:p>
          <a:p>
            <a:pPr>
              <a:lnSpc>
                <a:spcPct val="150000"/>
              </a:lnSpc>
            </a:pPr>
            <a:endParaRPr lang="en-US" sz="16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To implement post-training quantization (float16 or int8) using TensorFlow Lite or ONNX to reduce model size and accelerate inference, especially on edge devices. </a:t>
            </a:r>
          </a:p>
          <a:p>
            <a:pPr>
              <a:lnSpc>
                <a:spcPct val="150000"/>
              </a:lnSpc>
            </a:pPr>
            <a:endParaRPr lang="en-US" sz="16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To deploy the optimized model using a fast inference stack (e.g., </a:t>
            </a:r>
            <a:r>
              <a:rPr lang="en-US" sz="1600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FastAPI</a:t>
            </a:r>
            <a:r>
              <a:rPr lang="en-US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with TF Serving/ONNX Runtime Server, containerized with Docker) for real-time performance. </a:t>
            </a:r>
          </a:p>
          <a:p>
            <a:pPr>
              <a:lnSpc>
                <a:spcPct val="150000"/>
              </a:lnSpc>
            </a:pPr>
            <a:endParaRPr lang="en-US" sz="16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To integrate explainability techniques (e.g., Grad-CAM) to provide visual interpretations of model predictions, enhancing trust and understanding for medical professionals. </a:t>
            </a:r>
          </a:p>
          <a:p>
            <a:pPr lvl="3">
              <a:lnSpc>
                <a:spcPct val="150000"/>
              </a:lnSpc>
            </a:pPr>
            <a:endParaRPr lang="en-US" sz="16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723" y="652167"/>
            <a:ext cx="5161915" cy="430887"/>
          </a:xfrm>
        </p:spPr>
        <p:txBody>
          <a:bodyPr/>
          <a:lstStyle/>
          <a:p>
            <a:r>
              <a:rPr lang="en-IN" dirty="0"/>
              <a:t>BACKGROUND STUDY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28600" y="1371600"/>
          <a:ext cx="8686800" cy="5140961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62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60401">
                <a:tc>
                  <a:txBody>
                    <a:bodyPr/>
                    <a:lstStyle/>
                    <a:p>
                      <a:pPr algn="l"/>
                      <a:r>
                        <a:rPr lang="en-IN" sz="1600" b="1" i="0" u="none" strike="noStrike" dirty="0">
                          <a:solidFill>
                            <a:schemeClr val="lt1"/>
                          </a:solidFill>
                          <a:effectLst/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S.NO</a:t>
                      </a:r>
                      <a:r>
                        <a:rPr lang="en-IN" sz="1600" b="1" i="0" dirty="0">
                          <a:solidFill>
                            <a:schemeClr val="lt1"/>
                          </a:solidFill>
                          <a:effectLst/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​</a:t>
                      </a:r>
                      <a:endParaRPr lang="en-IN" sz="1600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b="1" i="0" u="none" strike="noStrike" dirty="0">
                          <a:solidFill>
                            <a:schemeClr val="lt1"/>
                          </a:solidFill>
                          <a:effectLst/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PAPER DETAILS</a:t>
                      </a:r>
                      <a:r>
                        <a:rPr lang="en-IN" sz="1600" b="1" i="0" dirty="0">
                          <a:solidFill>
                            <a:schemeClr val="lt1"/>
                          </a:solidFill>
                          <a:effectLst/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​</a:t>
                      </a:r>
                      <a:endParaRPr lang="en-IN" sz="1600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b="1" i="0" u="none" strike="noStrike" dirty="0">
                          <a:solidFill>
                            <a:schemeClr val="lt1"/>
                          </a:solidFill>
                          <a:effectLst/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YEAR</a:t>
                      </a:r>
                      <a:endParaRPr lang="en-IN" sz="1600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b="1" i="0" u="none" strike="noStrike" dirty="0">
                          <a:solidFill>
                            <a:schemeClr val="lt1"/>
                          </a:solidFill>
                          <a:effectLst/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FINDING</a:t>
                      </a:r>
                      <a:endParaRPr lang="en-IN" sz="1600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b="1" i="0" u="none" strike="noStrike" dirty="0">
                          <a:solidFill>
                            <a:schemeClr val="lt1"/>
                          </a:solidFill>
                          <a:effectLst/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RESEARCH GAP</a:t>
                      </a:r>
                      <a:endParaRPr lang="en-IN" sz="1600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8395">
                <a:tc>
                  <a:txBody>
                    <a:bodyPr/>
                    <a:lstStyle/>
                    <a:p>
                      <a:pPr algn="l"/>
                      <a:r>
                        <a:rPr lang="en-IN" sz="1600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en-US" sz="1600" b="1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  <a:p>
                      <a:pPr algn="l"/>
                      <a:endParaRPr lang="en-US" sz="1600" b="1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  <a:p>
                      <a:pPr algn="l"/>
                      <a:r>
                        <a:rPr lang="en-US" sz="1600" b="1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Name:</a:t>
                      </a:r>
                      <a:r>
                        <a:rPr lang="en-US" sz="1600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 </a:t>
                      </a:r>
                      <a:r>
                        <a:rPr lang="en-US" altLang="en-US" sz="1600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Artificial Intelligence (AI) for Brain Tumor Detection: Automating MRI Image Analysis for Enhanced Accuracy</a:t>
                      </a:r>
                    </a:p>
                    <a:p>
                      <a:pPr algn="l"/>
                      <a:endParaRPr lang="en-US" sz="1600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  <a:p>
                      <a:pPr algn="l"/>
                      <a:br>
                        <a:rPr lang="en-US" sz="1600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</a:br>
                      <a:r>
                        <a:rPr lang="en-US" sz="1600" b="1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Authors:</a:t>
                      </a:r>
                      <a:r>
                        <a:rPr lang="en-US" sz="1600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 </a:t>
                      </a:r>
                      <a:r>
                        <a:rPr lang="en-US" altLang="en-US" sz="1600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Sagar Bharat Shah</a:t>
                      </a:r>
                    </a:p>
                    <a:p>
                      <a:pPr algn="l"/>
                      <a:r>
                        <a:rPr lang="en-US" sz="1600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 </a:t>
                      </a:r>
                    </a:p>
                    <a:p>
                      <a:pPr algn="l"/>
                      <a:br>
                        <a:rPr lang="en-US" sz="1600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</a:br>
                      <a:r>
                        <a:rPr lang="en-US" sz="1600" b="1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Publisher:</a:t>
                      </a:r>
                      <a:r>
                        <a:rPr lang="en-US" sz="1600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 </a:t>
                      </a:r>
                      <a:r>
                        <a:rPr lang="en-US" altLang="en-US" sz="1600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International Journal of Current Engineering and Technology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chemeClr val="dk1"/>
                          </a:solidFill>
                          <a:effectLst/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202</a:t>
                      </a:r>
                      <a:r>
                        <a:rPr lang="en-IN" altLang="en-US" sz="1600" dirty="0">
                          <a:solidFill>
                            <a:schemeClr val="dk1"/>
                          </a:solidFill>
                          <a:effectLst/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• </a:t>
                      </a:r>
                      <a:r>
                        <a:rPr lang="en-US" altLang="en-US" sz="1600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The InceptionV3 model achieved over 97% accuracy in brain tumor classification using MRI images.</a:t>
                      </a:r>
                      <a:endParaRPr lang="en-US" sz="1600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  <a:p>
                      <a:pPr algn="l">
                        <a:buNone/>
                      </a:pPr>
                      <a:br>
                        <a:rPr lang="en-US" sz="1600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</a:br>
                      <a:r>
                        <a:rPr lang="en-US" sz="1600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•</a:t>
                      </a:r>
                      <a:r>
                        <a:rPr lang="en-US" altLang="en-US" sz="1600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Data augmentation and preprocessing significantly improved model performance and robustness.</a:t>
                      </a:r>
                    </a:p>
                    <a:p>
                      <a:pPr algn="l">
                        <a:buNone/>
                      </a:pPr>
                      <a:br>
                        <a:rPr lang="en-US" sz="1600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</a:br>
                      <a:r>
                        <a:rPr lang="en-US" sz="1600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• </a:t>
                      </a:r>
                      <a:r>
                        <a:rPr lang="en-US" altLang="en-US" sz="1600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InceptionV3 outperformed VGG19, DenseNet, and standard CNNs on the same dataset.</a:t>
                      </a:r>
                    </a:p>
                    <a:p>
                      <a:pPr algn="l">
                        <a:buNone/>
                      </a:pPr>
                      <a:endParaRPr lang="en-US" sz="1600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• </a:t>
                      </a:r>
                      <a:r>
                        <a:rPr lang="en-US" altLang="en-US" sz="1600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No testing on real clinical MRI data.</a:t>
                      </a: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br>
                        <a:rPr lang="en-US" sz="1600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</a:br>
                      <a:r>
                        <a:rPr lang="en-US" sz="1600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• </a:t>
                      </a:r>
                      <a:r>
                        <a:rPr lang="en-US" altLang="en-US" sz="1600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Tumor segmentation not addressed.</a:t>
                      </a: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br>
                        <a:rPr lang="en-US" sz="1600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</a:br>
                      <a:r>
                        <a:rPr lang="en-US" sz="1600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• </a:t>
                      </a:r>
                      <a:r>
                        <a:rPr lang="en-US" altLang="en-US" sz="1600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Lacks explainable AI methods.</a:t>
                      </a:r>
                      <a:br>
                        <a:rPr lang="en-US" sz="1600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</a:br>
                      <a:endParaRPr lang="en-US" sz="1600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• </a:t>
                      </a:r>
                      <a:r>
                        <a:rPr lang="en-US" altLang="en-US" sz="1600" dirty="0">
                          <a:effectLst/>
                          <a:latin typeface="Times New Roman" panose="02020503050405090304" pitchFamily="18" charset="0"/>
                          <a:ea typeface="MS Mincho" panose="02020609040205080304" pitchFamily="49" charset="-128"/>
                          <a:cs typeface="Times New Roman" panose="02020503050405090304" pitchFamily="18" charset="0"/>
                        </a:rPr>
                        <a:t>Patient info not used in prediction.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0942" y="109576"/>
            <a:ext cx="1828959" cy="54259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28600" y="757555"/>
          <a:ext cx="8686800" cy="5325746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60401">
                <a:tc>
                  <a:txBody>
                    <a:bodyPr/>
                    <a:lstStyle/>
                    <a:p>
                      <a:pPr algn="l"/>
                      <a:r>
                        <a:rPr lang="en-IN" sz="1600" b="1" i="0" u="none" strike="noStrike" dirty="0">
                          <a:solidFill>
                            <a:schemeClr val="lt1"/>
                          </a:solidFill>
                          <a:effectLst/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S.NO</a:t>
                      </a:r>
                      <a:r>
                        <a:rPr lang="en-IN" sz="1600" b="1" i="0" dirty="0">
                          <a:solidFill>
                            <a:schemeClr val="lt1"/>
                          </a:solidFill>
                          <a:effectLst/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​</a:t>
                      </a:r>
                      <a:endParaRPr lang="en-IN" sz="1600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b="1" i="0" u="none" strike="noStrike" dirty="0">
                          <a:solidFill>
                            <a:schemeClr val="lt1"/>
                          </a:solidFill>
                          <a:effectLst/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PAPER DETAILS</a:t>
                      </a:r>
                      <a:r>
                        <a:rPr lang="en-IN" sz="1600" b="1" i="0" dirty="0">
                          <a:solidFill>
                            <a:schemeClr val="lt1"/>
                          </a:solidFill>
                          <a:effectLst/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​</a:t>
                      </a:r>
                      <a:endParaRPr lang="en-IN" sz="1600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b="1" i="0" u="none" strike="noStrike" dirty="0">
                          <a:solidFill>
                            <a:schemeClr val="lt1"/>
                          </a:solidFill>
                          <a:effectLst/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YEAR</a:t>
                      </a:r>
                      <a:endParaRPr lang="en-IN" sz="1600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b="1" i="0" u="none" strike="noStrike" dirty="0">
                          <a:solidFill>
                            <a:schemeClr val="lt1"/>
                          </a:solidFill>
                          <a:effectLst/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FINDING</a:t>
                      </a:r>
                      <a:endParaRPr lang="en-IN" sz="1600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600" b="1" i="0" u="none" strike="noStrike" dirty="0">
                          <a:solidFill>
                            <a:schemeClr val="lt1"/>
                          </a:solidFill>
                          <a:effectLst/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RESEARCH GAP</a:t>
                      </a:r>
                      <a:endParaRPr lang="en-IN" sz="1600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98023">
                <a:tc>
                  <a:txBody>
                    <a:bodyPr/>
                    <a:lstStyle/>
                    <a:p>
                      <a:pPr algn="l"/>
                      <a:r>
                        <a:rPr lang="en-IN" sz="1600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1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Name: </a:t>
                      </a:r>
                      <a:r>
                        <a:rPr lang="en-US" altLang="en-US" sz="1600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Artificial Intelligence (AI): Brain Tumor Detection</a:t>
                      </a:r>
                    </a:p>
                    <a:p>
                      <a:pPr algn="l">
                        <a:buNone/>
                      </a:pPr>
                      <a:endParaRPr lang="en-US" sz="1600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  <a:p>
                      <a:pPr algn="l">
                        <a:buNone/>
                      </a:pPr>
                      <a:r>
                        <a:rPr lang="en-US" sz="1600" b="1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Authors: </a:t>
                      </a:r>
                      <a:r>
                        <a:rPr lang="en-US" altLang="en-US" sz="1600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Ms. Mahadevi Pundlik Khyade</a:t>
                      </a:r>
                    </a:p>
                    <a:p>
                      <a:pPr algn="l">
                        <a:buNone/>
                      </a:pPr>
                      <a:endParaRPr lang="en-US" sz="1600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  <a:p>
                      <a:pPr algn="l">
                        <a:buNone/>
                      </a:pPr>
                      <a:r>
                        <a:rPr lang="en-US" sz="1600" b="1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Publisher: </a:t>
                      </a:r>
                      <a:r>
                        <a:rPr lang="en-US" altLang="en-US" sz="1600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International Journal for Research in Applied Science and Engineering Technology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chemeClr val="dk1"/>
                          </a:solidFill>
                          <a:effectLst/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202</a:t>
                      </a:r>
                      <a:r>
                        <a:rPr lang="en-IN" altLang="en-US" sz="1600" dirty="0">
                          <a:solidFill>
                            <a:schemeClr val="dk1"/>
                          </a:solidFill>
                          <a:effectLst/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Font typeface="Arial" panose="020B0604020202090204" pitchFamily="34" charset="0"/>
                        <a:buChar char="•"/>
                      </a:pPr>
                      <a:r>
                        <a:rPr lang="en-US" altLang="en-US" sz="1600" dirty="0">
                          <a:effectLst/>
                          <a:latin typeface="Times New Roman" panose="02020503050405090304" pitchFamily="18" charset="0"/>
                          <a:ea typeface="MS Mincho" panose="02020609040205080304" pitchFamily="49" charset="-128"/>
                          <a:cs typeface="Times New Roman" panose="02020503050405090304" pitchFamily="18" charset="0"/>
                        </a:rPr>
                        <a:t>AI can detect and classify brain tumors from scans.</a:t>
                      </a:r>
                    </a:p>
                    <a:p>
                      <a:pPr marL="285750" indent="-28575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Font typeface="Arial" panose="020B0604020202090204" pitchFamily="34" charset="0"/>
                        <a:buChar char="•"/>
                      </a:pPr>
                      <a:endParaRPr lang="en-US" altLang="en-US" sz="1600" dirty="0">
                        <a:effectLst/>
                        <a:latin typeface="Times New Roman" panose="02020503050405090304" pitchFamily="18" charset="0"/>
                        <a:ea typeface="MS Mincho" panose="02020609040205080304" pitchFamily="49" charset="-128"/>
                        <a:cs typeface="Times New Roman" panose="02020503050405090304" pitchFamily="18" charset="0"/>
                      </a:endParaRPr>
                    </a:p>
                    <a:p>
                      <a:pPr marL="285750" indent="-28575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Font typeface="Arial" panose="020B0604020202090204" pitchFamily="34" charset="0"/>
                        <a:buChar char="•"/>
                      </a:pPr>
                      <a:r>
                        <a:rPr lang="en-US" altLang="en-US" sz="1600" dirty="0">
                          <a:effectLst/>
                          <a:latin typeface="Times New Roman" panose="02020503050405090304" pitchFamily="18" charset="0"/>
                          <a:ea typeface="MS Mincho" panose="02020609040205080304" pitchFamily="49" charset="-128"/>
                          <a:cs typeface="Times New Roman" panose="02020503050405090304" pitchFamily="18" charset="0"/>
                        </a:rPr>
                        <a:t>CNNs perform better than traditional ML models.</a:t>
                      </a:r>
                    </a:p>
                    <a:p>
                      <a:pPr marL="285750" indent="-28575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Font typeface="Arial" panose="020B0604020202090204" pitchFamily="34" charset="0"/>
                        <a:buChar char="•"/>
                      </a:pPr>
                      <a:endParaRPr lang="en-US" altLang="en-US" sz="1600" dirty="0">
                        <a:effectLst/>
                        <a:latin typeface="Times New Roman" panose="02020503050405090304" pitchFamily="18" charset="0"/>
                        <a:ea typeface="MS Mincho" panose="02020609040205080304" pitchFamily="49" charset="-128"/>
                        <a:cs typeface="Times New Roman" panose="02020503050405090304" pitchFamily="18" charset="0"/>
                      </a:endParaRPr>
                    </a:p>
                    <a:p>
                      <a:pPr marL="285750" indent="-28575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Font typeface="Arial" panose="020B0604020202090204" pitchFamily="34" charset="0"/>
                        <a:buChar char="•"/>
                      </a:pPr>
                      <a:r>
                        <a:rPr lang="en-US" altLang="en-US" sz="1600" dirty="0">
                          <a:effectLst/>
                          <a:latin typeface="Times New Roman" panose="02020503050405090304" pitchFamily="18" charset="0"/>
                          <a:ea typeface="MS Mincho" panose="02020609040205080304" pitchFamily="49" charset="-128"/>
                          <a:cs typeface="Times New Roman" panose="02020503050405090304" pitchFamily="18" charset="0"/>
                        </a:rPr>
                        <a:t>Transfer learning boosts accuracy with less data.</a:t>
                      </a:r>
                    </a:p>
                    <a:p>
                      <a:pPr marL="285750" indent="-28575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Font typeface="Arial" panose="020B0604020202090204" pitchFamily="34" charset="0"/>
                        <a:buChar char="•"/>
                      </a:pPr>
                      <a:endParaRPr lang="en-US" altLang="en-US" sz="1600" dirty="0">
                        <a:effectLst/>
                        <a:latin typeface="Times New Roman" panose="02020503050405090304" pitchFamily="18" charset="0"/>
                        <a:ea typeface="MS Mincho" panose="02020609040205080304" pitchFamily="49" charset="-128"/>
                        <a:cs typeface="Times New Roman" panose="02020503050405090304" pitchFamily="18" charset="0"/>
                      </a:endParaRPr>
                    </a:p>
                    <a:p>
                      <a:pPr marL="285750" indent="-28575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Font typeface="Arial" panose="020B0604020202090204" pitchFamily="34" charset="0"/>
                        <a:buChar char="•"/>
                      </a:pPr>
                      <a:r>
                        <a:rPr lang="en-US" altLang="en-US" sz="1600" dirty="0">
                          <a:effectLst/>
                          <a:latin typeface="Times New Roman" panose="02020503050405090304" pitchFamily="18" charset="0"/>
                          <a:ea typeface="MS Mincho" panose="02020609040205080304" pitchFamily="49" charset="-128"/>
                          <a:cs typeface="Times New Roman" panose="02020503050405090304" pitchFamily="18" charset="0"/>
                        </a:rPr>
                        <a:t>AI helps in tumor detection, segmentation, and tracking.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Font typeface="Arial" panose="020B0604020202090204" pitchFamily="34" charset="0"/>
                        <a:buChar char="•"/>
                      </a:pPr>
                      <a:r>
                        <a:rPr lang="en-US" altLang="en-US" sz="1600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Lack of large, labeled medical datasets.</a:t>
                      </a:r>
                    </a:p>
                    <a:p>
                      <a:pPr marL="285750" indent="-28575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Font typeface="Arial" panose="020B0604020202090204" pitchFamily="34" charset="0"/>
                        <a:buChar char="•"/>
                      </a:pPr>
                      <a:endParaRPr lang="en-US" altLang="en-US" sz="1600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  <a:p>
                      <a:pPr marL="285750" indent="-28575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Font typeface="Arial" panose="020B0604020202090204" pitchFamily="34" charset="0"/>
                        <a:buChar char="•"/>
                      </a:pPr>
                      <a:r>
                        <a:rPr lang="en-US" altLang="en-US" sz="1600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Models don’t generalize well across hospitals.</a:t>
                      </a:r>
                    </a:p>
                    <a:p>
                      <a:pPr marL="285750" indent="-28575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Font typeface="Arial" panose="020B0604020202090204" pitchFamily="34" charset="0"/>
                        <a:buChar char="•"/>
                      </a:pPr>
                      <a:endParaRPr lang="en-US" altLang="en-US" sz="1600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  <a:p>
                      <a:pPr marL="285750" indent="-28575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Font typeface="Arial" panose="020B0604020202090204" pitchFamily="34" charset="0"/>
                        <a:buChar char="•"/>
                      </a:pPr>
                      <a:r>
                        <a:rPr lang="en-US" altLang="en-US" sz="1600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AI decisions are hard to interpret.</a:t>
                      </a:r>
                    </a:p>
                    <a:p>
                      <a:pPr marL="285750" indent="-28575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Font typeface="Arial" panose="020B0604020202090204" pitchFamily="34" charset="0"/>
                        <a:buChar char="•"/>
                      </a:pPr>
                      <a:endParaRPr lang="en-US" altLang="en-US" sz="1600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  <a:p>
                      <a:pPr marL="285750" indent="-28575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Font typeface="Arial" panose="020B0604020202090204" pitchFamily="34" charset="0"/>
                        <a:buChar char="•"/>
                      </a:pPr>
                      <a:r>
                        <a:rPr lang="en-US" altLang="en-US" sz="1600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Real-time clinical use is still limited</a:t>
                      </a:r>
                      <a:r>
                        <a:rPr lang="en-US" sz="1600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.</a:t>
                      </a:r>
                      <a:endParaRPr lang="en-IN" sz="1600" dirty="0">
                        <a:effectLst/>
                        <a:latin typeface="Times New Roman" panose="02020503050405090304" pitchFamily="18" charset="0"/>
                        <a:ea typeface="MS Mincho" panose="02020609040205080304" pitchFamily="49" charset="-128"/>
                        <a:cs typeface="Times New Roman" panose="0202050305040509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715000" y="76200"/>
            <a:ext cx="458142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 panose="02040502050405090303"/>
                <a:cs typeface="Georgia" panose="02040502050405090303"/>
              </a:rPr>
              <a:t>CHRIST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 panose="02040502050405090303"/>
              <a:cs typeface="Georgia" panose="02040502050405090303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 panose="02040502050405090303"/>
                <a:cs typeface="Georgia" panose="02040502050405090303"/>
              </a:rPr>
              <a:t>Deemed</a:t>
            </a:r>
            <a:r>
              <a:rPr kumimoji="0" lang="en-US" sz="1200" b="0" i="0" u="none" strike="noStrike" kern="0" cap="none" spc="-25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 panose="02040502050405090303"/>
                <a:cs typeface="Georgia" panose="02040502050405090303"/>
              </a:rPr>
              <a:t> 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 panose="02040502050405090303"/>
                <a:cs typeface="Georgia" panose="02040502050405090303"/>
              </a:rPr>
              <a:t>to</a:t>
            </a:r>
            <a:r>
              <a:rPr kumimoji="0" lang="en-US" sz="1200" b="0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 panose="02040502050405090303"/>
                <a:cs typeface="Georgia" panose="02040502050405090303"/>
              </a:rPr>
              <a:t> 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 panose="02040502050405090303"/>
                <a:cs typeface="Georgia" panose="02040502050405090303"/>
              </a:rPr>
              <a:t>be</a:t>
            </a:r>
            <a:r>
              <a:rPr kumimoji="0" lang="en-US" sz="1200" b="0" i="0" u="none" strike="noStrike" kern="0" cap="none" spc="-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 panose="02040502050405090303"/>
                <a:cs typeface="Georgia" panose="02040502050405090303"/>
              </a:rPr>
              <a:t> </a:t>
            </a:r>
            <a:r>
              <a:rPr kumimoji="0" lang="en-US" sz="1200" b="0" i="0" u="none" strike="noStrike" kern="0" cap="none" spc="-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rgia" panose="02040502050405090303"/>
                <a:cs typeface="Georgia" panose="02040502050405090303"/>
              </a:rPr>
              <a:t>University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 panose="02040502050405090303"/>
              <a:cs typeface="Georgia" panose="02040502050405090303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28600" y="685800"/>
          <a:ext cx="8686800" cy="6015229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60401">
                <a:tc>
                  <a:txBody>
                    <a:bodyPr/>
                    <a:lstStyle/>
                    <a:p>
                      <a:pPr algn="l"/>
                      <a:r>
                        <a:rPr lang="en-IN" sz="1800" b="1" i="0" u="none" strike="noStrike" dirty="0">
                          <a:solidFill>
                            <a:schemeClr val="lt1"/>
                          </a:solidFill>
                          <a:effectLst/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S.NO</a:t>
                      </a:r>
                      <a:r>
                        <a:rPr lang="en-IN" sz="1800" b="1" i="0" dirty="0">
                          <a:solidFill>
                            <a:schemeClr val="lt1"/>
                          </a:solidFill>
                          <a:effectLst/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​</a:t>
                      </a:r>
                      <a:endParaRPr lang="en-IN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b="1" i="0" u="none" strike="noStrike" dirty="0">
                          <a:solidFill>
                            <a:schemeClr val="lt1"/>
                          </a:solidFill>
                          <a:effectLst/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PAPER DETAILS</a:t>
                      </a:r>
                      <a:r>
                        <a:rPr lang="en-IN" sz="1800" b="1" i="0" dirty="0">
                          <a:solidFill>
                            <a:schemeClr val="lt1"/>
                          </a:solidFill>
                          <a:effectLst/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​</a:t>
                      </a:r>
                      <a:endParaRPr lang="en-IN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b="1" i="0" u="none" strike="noStrike" dirty="0">
                          <a:solidFill>
                            <a:schemeClr val="lt1"/>
                          </a:solidFill>
                          <a:effectLst/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YEAR</a:t>
                      </a:r>
                      <a:endParaRPr lang="en-IN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b="1" i="0" u="none" strike="noStrike" dirty="0">
                          <a:solidFill>
                            <a:schemeClr val="lt1"/>
                          </a:solidFill>
                          <a:effectLst/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FINDING</a:t>
                      </a:r>
                      <a:endParaRPr lang="en-IN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b="1" i="0" u="none" strike="noStrike" dirty="0">
                          <a:solidFill>
                            <a:schemeClr val="lt1"/>
                          </a:solidFill>
                          <a:effectLst/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RESEARCH GAP</a:t>
                      </a:r>
                      <a:endParaRPr lang="en-IN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0511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endParaRPr lang="en-US" b="1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b="1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Name: </a:t>
                      </a:r>
                      <a:r>
                        <a:rPr lang="en-US" altLang="en-US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An Improved AI Inspired Brain Tumor Detection</a:t>
                      </a: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br>
                        <a:rPr lang="en-US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</a:br>
                      <a:r>
                        <a:rPr lang="en-US" b="1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Authors:</a:t>
                      </a:r>
                      <a:r>
                        <a:rPr lang="en-US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 </a:t>
                      </a:r>
                      <a:r>
                        <a:rPr lang="en-US" altLang="en-US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Saqlain Razzaq, Muhammad Adeel Asghar, Muhammad Jamil Khan</a:t>
                      </a: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 </a:t>
                      </a:r>
                      <a:br>
                        <a:rPr lang="en-US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</a:br>
                      <a:r>
                        <a:rPr lang="en-US" b="1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Publisher:</a:t>
                      </a:r>
                      <a:r>
                        <a:rPr lang="en-US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 </a:t>
                      </a:r>
                      <a:r>
                        <a:rPr lang="en-US" altLang="en-US" sz="1800" dirty="0">
                          <a:effectLst/>
                          <a:latin typeface="Times New Roman" panose="02020503050405090304" pitchFamily="18" charset="0"/>
                          <a:ea typeface="MS Mincho" panose="02020609040205080304" pitchFamily="49" charset="-128"/>
                          <a:cs typeface="Times New Roman" panose="02020503050405090304" pitchFamily="18" charset="0"/>
                        </a:rPr>
                        <a:t>ComTech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chemeClr val="dk1"/>
                          </a:solidFill>
                          <a:effectLst/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2021</a:t>
                      </a:r>
                      <a:endParaRPr lang="en-IN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Font typeface="Arial" panose="020B0604020202090204" pitchFamily="34" charset="0"/>
                        <a:buChar char="•"/>
                      </a:pPr>
                      <a:r>
                        <a:rPr lang="en-US" altLang="en-US" sz="1500" dirty="0">
                          <a:effectLst/>
                          <a:latin typeface="Times New Roman" panose="02020503050405090304" pitchFamily="18" charset="0"/>
                          <a:ea typeface="MS Mincho" panose="02020609040205080304" pitchFamily="49" charset="-128"/>
                          <a:cs typeface="Times New Roman" panose="02020503050405090304" pitchFamily="18" charset="0"/>
                        </a:rPr>
                        <a:t>Ensemble of deep features and stacking classifiers enhanced tumor classification accuracy.</a:t>
                      </a:r>
                    </a:p>
                    <a:p>
                      <a:pPr marL="285750" indent="-28575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Font typeface="Arial" panose="020B0604020202090204" pitchFamily="34" charset="0"/>
                        <a:buChar char="•"/>
                      </a:pPr>
                      <a:r>
                        <a:rPr lang="en-US" altLang="en-US" sz="1500" dirty="0">
                          <a:effectLst/>
                          <a:latin typeface="Times New Roman" panose="02020503050405090304" pitchFamily="18" charset="0"/>
                          <a:ea typeface="MS Mincho" panose="02020609040205080304" pitchFamily="49" charset="-128"/>
                          <a:cs typeface="Times New Roman" panose="02020503050405090304" pitchFamily="18" charset="0"/>
                        </a:rPr>
                        <a:t>The model leveraged pretrained CNNs to extract robust MRI image features.</a:t>
                      </a:r>
                    </a:p>
                    <a:p>
                      <a:pPr marL="285750" indent="-28575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Font typeface="Arial" panose="020B0604020202090204" pitchFamily="34" charset="0"/>
                        <a:buChar char="•"/>
                      </a:pPr>
                      <a:r>
                        <a:rPr lang="en-US" altLang="en-US" sz="1500" dirty="0">
                          <a:effectLst/>
                          <a:latin typeface="Times New Roman" panose="02020503050405090304" pitchFamily="18" charset="0"/>
                          <a:ea typeface="MS Mincho" panose="02020609040205080304" pitchFamily="49" charset="-128"/>
                          <a:cs typeface="Times New Roman" panose="02020503050405090304" pitchFamily="18" charset="0"/>
                        </a:rPr>
                        <a:t>Feature fusion improved discrimination between tumor types.</a:t>
                      </a:r>
                    </a:p>
                    <a:p>
                      <a:pPr marL="285750" indent="-28575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Font typeface="Arial" panose="020B0604020202090204" pitchFamily="34" charset="0"/>
                        <a:buChar char="•"/>
                      </a:pPr>
                      <a:r>
                        <a:rPr lang="en-US" altLang="en-US" sz="1500" dirty="0">
                          <a:effectLst/>
                          <a:latin typeface="Times New Roman" panose="02020503050405090304" pitchFamily="18" charset="0"/>
                          <a:ea typeface="MS Mincho" panose="02020609040205080304" pitchFamily="49" charset="-128"/>
                          <a:cs typeface="Times New Roman" panose="02020503050405090304" pitchFamily="18" charset="0"/>
                        </a:rPr>
                        <a:t>Stacking approach outperformed single-model classifiers in detection performance.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Font typeface="Arial" panose="020B0604020202090204" pitchFamily="34" charset="0"/>
                        <a:buChar char="•"/>
                      </a:pPr>
                      <a:r>
                        <a:rPr lang="en-US" altLang="en-US" sz="1500" dirty="0">
                          <a:effectLst/>
                          <a:latin typeface="Times New Roman" panose="02020503050405090304" pitchFamily="18" charset="0"/>
                          <a:ea typeface="MS Mincho" panose="02020609040205080304" pitchFamily="49" charset="-128"/>
                          <a:cs typeface="Times New Roman" panose="02020503050405090304" pitchFamily="18" charset="0"/>
                        </a:rPr>
                        <a:t>Evaluation was limited to public datasets, lacking validation on real clinical scans.</a:t>
                      </a:r>
                    </a:p>
                    <a:p>
                      <a:pPr marL="285750" indent="-28575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Font typeface="Arial" panose="020B0604020202090204" pitchFamily="34" charset="0"/>
                        <a:buChar char="•"/>
                      </a:pPr>
                      <a:r>
                        <a:rPr lang="en-US" altLang="en-US" sz="1500" dirty="0">
                          <a:effectLst/>
                          <a:latin typeface="Times New Roman" panose="02020503050405090304" pitchFamily="18" charset="0"/>
                          <a:ea typeface="MS Mincho" panose="02020609040205080304" pitchFamily="49" charset="-128"/>
                          <a:cs typeface="Times New Roman" panose="02020503050405090304" pitchFamily="18" charset="0"/>
                        </a:rPr>
                        <a:t>Tumor segmentation and localization were not part of the study.</a:t>
                      </a:r>
                    </a:p>
                    <a:p>
                      <a:pPr marL="285750" indent="-28575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Font typeface="Arial" panose="020B0604020202090204" pitchFamily="34" charset="0"/>
                        <a:buChar char="•"/>
                      </a:pPr>
                      <a:r>
                        <a:rPr lang="en-US" altLang="en-US" sz="1500" dirty="0">
                          <a:effectLst/>
                          <a:latin typeface="Times New Roman" panose="02020503050405090304" pitchFamily="18" charset="0"/>
                          <a:ea typeface="MS Mincho" panose="02020609040205080304" pitchFamily="49" charset="-128"/>
                          <a:cs typeface="Times New Roman" panose="02020503050405090304" pitchFamily="18" charset="0"/>
                        </a:rPr>
                        <a:t>Model interpretability methods were not incorporated.</a:t>
                      </a:r>
                    </a:p>
                    <a:p>
                      <a:pPr marL="285750" indent="-28575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Font typeface="Arial" panose="020B0604020202090204" pitchFamily="34" charset="0"/>
                        <a:buChar char="•"/>
                      </a:pPr>
                      <a:r>
                        <a:rPr lang="en-US" altLang="en-US" sz="1500" dirty="0">
                          <a:effectLst/>
                          <a:latin typeface="Times New Roman" panose="02020503050405090304" pitchFamily="18" charset="0"/>
                          <a:ea typeface="MS Mincho" panose="02020609040205080304" pitchFamily="49" charset="-128"/>
                          <a:cs typeface="Times New Roman" panose="02020503050405090304" pitchFamily="18" charset="0"/>
                        </a:rPr>
                        <a:t>The framework’s applicability to multi-institutional settings remains untested.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441" y="76200"/>
            <a:ext cx="1828959" cy="54259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28600" y="1066800"/>
          <a:ext cx="8686800" cy="4990212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60401">
                <a:tc>
                  <a:txBody>
                    <a:bodyPr/>
                    <a:lstStyle/>
                    <a:p>
                      <a:r>
                        <a:rPr lang="en-IN" sz="1800" b="1" i="0" u="none" strike="noStrike" dirty="0">
                          <a:solidFill>
                            <a:schemeClr val="lt1"/>
                          </a:solidFill>
                          <a:effectLst/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S.NO</a:t>
                      </a:r>
                      <a:r>
                        <a:rPr lang="en-IN" sz="1800" b="1" i="0" dirty="0">
                          <a:solidFill>
                            <a:schemeClr val="lt1"/>
                          </a:solidFill>
                          <a:effectLst/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​</a:t>
                      </a:r>
                      <a:endParaRPr lang="en-IN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i="0" u="none" strike="noStrike" dirty="0">
                          <a:solidFill>
                            <a:schemeClr val="lt1"/>
                          </a:solidFill>
                          <a:effectLst/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PAPER DETAILS</a:t>
                      </a:r>
                      <a:r>
                        <a:rPr lang="en-IN" sz="1800" b="1" i="0" dirty="0">
                          <a:solidFill>
                            <a:schemeClr val="lt1"/>
                          </a:solidFill>
                          <a:effectLst/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​</a:t>
                      </a:r>
                      <a:endParaRPr lang="en-IN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 b="1" i="0" u="none" strike="noStrike" dirty="0">
                          <a:solidFill>
                            <a:schemeClr val="lt1"/>
                          </a:solidFill>
                          <a:effectLst/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YEAR</a:t>
                      </a:r>
                      <a:endParaRPr lang="en-IN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i="0" u="none" strike="noStrike" dirty="0">
                          <a:solidFill>
                            <a:schemeClr val="lt1"/>
                          </a:solidFill>
                          <a:effectLst/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FINDING</a:t>
                      </a:r>
                      <a:endParaRPr lang="en-IN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i="0" u="none" strike="noStrike" dirty="0">
                          <a:solidFill>
                            <a:schemeClr val="lt1"/>
                          </a:solidFill>
                          <a:effectLst/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RESEARCH GAP</a:t>
                      </a:r>
                      <a:endParaRPr lang="en-IN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0511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b="1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Name:</a:t>
                      </a:r>
                      <a:r>
                        <a:rPr lang="en-US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 </a:t>
                      </a:r>
                      <a:r>
                        <a:rPr lang="en-US" altLang="en-US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Optimizing MRI-based brain tumor classification and detection using AI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br>
                        <a:rPr lang="en-US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</a:br>
                      <a:r>
                        <a:rPr lang="en-US" b="1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Authors:</a:t>
                      </a:r>
                      <a:r>
                        <a:rPr lang="en-US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 </a:t>
                      </a:r>
                      <a:r>
                        <a:rPr lang="en-US" altLang="en-US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A. Anaya-Isaza, Leonel Mera-Jiménez, Lucía Verdugo-Alejo, Luis Sarasti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 </a:t>
                      </a:r>
                      <a:br>
                        <a:rPr lang="en-US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</a:br>
                      <a:r>
                        <a:rPr lang="en-US" b="1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Publisher:</a:t>
                      </a:r>
                      <a:r>
                        <a:rPr lang="en-US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 </a:t>
                      </a:r>
                      <a:r>
                        <a:rPr lang="en-US" altLang="en-US" sz="1800" dirty="0">
                          <a:effectLst/>
                          <a:latin typeface="Times New Roman" panose="02020503050405090304" pitchFamily="18" charset="0"/>
                          <a:ea typeface="MS Mincho" panose="02020609040205080304" pitchFamily="49" charset="-128"/>
                          <a:cs typeface="Times New Roman" panose="02020503050405090304" pitchFamily="18" charset="0"/>
                        </a:rPr>
                        <a:t>European Journal of Radiology Open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dk1"/>
                          </a:solidFill>
                          <a:effectLst/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202</a:t>
                      </a:r>
                      <a:r>
                        <a:rPr lang="en-IN" altLang="en-US" sz="1800" dirty="0">
                          <a:solidFill>
                            <a:schemeClr val="dk1"/>
                          </a:solidFill>
                          <a:effectLst/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90204" pitchFamily="34" charset="0"/>
                        <a:buChar char="•"/>
                      </a:pPr>
                      <a:r>
                        <a:rPr lang="en-US" altLang="en-US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InceptionResNetV2 gave 97%+ accuracy.</a:t>
                      </a:r>
                    </a:p>
                    <a:p>
                      <a:pPr marL="285750" indent="-285750">
                        <a:buFont typeface="Arial" panose="020B0604020202090204" pitchFamily="34" charset="0"/>
                        <a:buChar char="•"/>
                      </a:pPr>
                      <a:endParaRPr lang="en-US" altLang="en-US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  <a:p>
                      <a:pPr marL="285750" indent="-285750">
                        <a:buFont typeface="Arial" panose="020B0604020202090204" pitchFamily="34" charset="0"/>
                        <a:buChar char="•"/>
                      </a:pPr>
                      <a:r>
                        <a:rPr lang="en-US" altLang="en-US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Transfer learning improved results by ~6%.</a:t>
                      </a:r>
                    </a:p>
                    <a:p>
                      <a:pPr marL="285750" indent="-285750">
                        <a:buFont typeface="Arial" panose="020B0604020202090204" pitchFamily="34" charset="0"/>
                        <a:buChar char="•"/>
                      </a:pPr>
                      <a:endParaRPr lang="en-US" altLang="en-US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  <a:p>
                      <a:pPr marL="285750" indent="-285750">
                        <a:buFont typeface="Arial" panose="020B0604020202090204" pitchFamily="34" charset="0"/>
                        <a:buChar char="•"/>
                      </a:pPr>
                      <a:r>
                        <a:rPr lang="en-US" altLang="en-US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FLAIR MRI was most effective.</a:t>
                      </a:r>
                    </a:p>
                    <a:p>
                      <a:pPr marL="285750" indent="-285750">
                        <a:buFont typeface="Arial" panose="020B0604020202090204" pitchFamily="34" charset="0"/>
                        <a:buChar char="•"/>
                      </a:pPr>
                      <a:endParaRPr lang="en-US" altLang="en-US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  <a:p>
                      <a:pPr marL="285750" indent="-285750">
                        <a:buFont typeface="Arial" panose="020B0604020202090204" pitchFamily="34" charset="0"/>
                        <a:buChar char="•"/>
                      </a:pPr>
                      <a:r>
                        <a:rPr lang="en-US" altLang="en-US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Cross‑Transformer trained faster with 90% accuracy.</a:t>
                      </a:r>
                    </a:p>
                    <a:p>
                      <a:pPr>
                        <a:buNone/>
                      </a:pPr>
                      <a:endParaRPr lang="en-US" altLang="en-US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Font typeface="Arial" panose="020B0604020202090204" pitchFamily="34" charset="0"/>
                        <a:buChar char="•"/>
                      </a:pPr>
                      <a:r>
                        <a:rPr lang="en-US" altLang="en-US" sz="1800" dirty="0">
                          <a:effectLst/>
                          <a:latin typeface="Times New Roman" panose="02020503050405090304" pitchFamily="18" charset="0"/>
                          <a:ea typeface="MS Mincho" panose="02020609040205080304" pitchFamily="49" charset="-128"/>
                          <a:cs typeface="Times New Roman" panose="02020503050405090304" pitchFamily="18" charset="0"/>
                        </a:rPr>
                        <a:t>Only 3 tumor types were tested.</a:t>
                      </a:r>
                    </a:p>
                    <a:p>
                      <a:pPr marL="285750" indent="-28575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Font typeface="Arial" panose="020B0604020202090204" pitchFamily="34" charset="0"/>
                        <a:buChar char="•"/>
                      </a:pPr>
                      <a:r>
                        <a:rPr lang="en-US" altLang="en-US" sz="1800" dirty="0">
                          <a:effectLst/>
                          <a:latin typeface="Times New Roman" panose="02020503050405090304" pitchFamily="18" charset="0"/>
                          <a:ea typeface="MS Mincho" panose="02020609040205080304" pitchFamily="49" charset="-128"/>
                          <a:cs typeface="Times New Roman" panose="02020503050405090304" pitchFamily="18" charset="0"/>
                        </a:rPr>
                        <a:t>No tumor segmentation done.</a:t>
                      </a:r>
                    </a:p>
                    <a:p>
                      <a:pPr marL="285750" indent="-28575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Font typeface="Arial" panose="020B0604020202090204" pitchFamily="34" charset="0"/>
                        <a:buChar char="•"/>
                      </a:pPr>
                      <a:r>
                        <a:rPr lang="en-US" altLang="en-US" sz="1800" dirty="0">
                          <a:effectLst/>
                          <a:latin typeface="Times New Roman" panose="02020503050405090304" pitchFamily="18" charset="0"/>
                          <a:ea typeface="MS Mincho" panose="02020609040205080304" pitchFamily="49" charset="-128"/>
                          <a:cs typeface="Times New Roman" panose="02020503050405090304" pitchFamily="18" charset="0"/>
                        </a:rPr>
                        <a:t>No real hospital data used.</a:t>
                      </a:r>
                    </a:p>
                    <a:p>
                      <a:pPr marL="285750" indent="-28575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Font typeface="Arial" panose="020B0604020202090204" pitchFamily="34" charset="0"/>
                        <a:buChar char="•"/>
                      </a:pPr>
                      <a:r>
                        <a:rPr lang="en-US" altLang="en-US" sz="1800" dirty="0">
                          <a:effectLst/>
                          <a:latin typeface="Times New Roman" panose="02020503050405090304" pitchFamily="18" charset="0"/>
                          <a:ea typeface="MS Mincho" panose="02020609040205080304" pitchFamily="49" charset="-128"/>
                          <a:cs typeface="Times New Roman" panose="02020503050405090304" pitchFamily="18" charset="0"/>
                        </a:rPr>
                        <a:t>Lacked model explainability.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3723" y="76200"/>
            <a:ext cx="1828959" cy="54259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28600" y="618490"/>
          <a:ext cx="8686800" cy="5748148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60401">
                <a:tc>
                  <a:txBody>
                    <a:bodyPr/>
                    <a:lstStyle/>
                    <a:p>
                      <a:r>
                        <a:rPr lang="en-IN" sz="1500" b="1" i="0" u="none" strike="noStrike" dirty="0">
                          <a:solidFill>
                            <a:schemeClr val="lt1"/>
                          </a:solidFill>
                          <a:effectLst/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S.NO</a:t>
                      </a:r>
                      <a:r>
                        <a:rPr lang="en-IN" sz="1500" b="1" i="0" dirty="0">
                          <a:solidFill>
                            <a:schemeClr val="lt1"/>
                          </a:solidFill>
                          <a:effectLst/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​</a:t>
                      </a:r>
                      <a:endParaRPr lang="en-IN" sz="1500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b="1" i="0" u="none" strike="noStrike" dirty="0">
                          <a:solidFill>
                            <a:schemeClr val="lt1"/>
                          </a:solidFill>
                          <a:effectLst/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PAPER DETAILS</a:t>
                      </a:r>
                      <a:r>
                        <a:rPr lang="en-IN" sz="1500" b="1" i="0" dirty="0">
                          <a:solidFill>
                            <a:schemeClr val="lt1"/>
                          </a:solidFill>
                          <a:effectLst/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​</a:t>
                      </a:r>
                      <a:endParaRPr lang="en-IN" sz="1500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500" b="1" i="0" u="none" strike="noStrike" dirty="0">
                          <a:solidFill>
                            <a:schemeClr val="lt1"/>
                          </a:solidFill>
                          <a:effectLst/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YEAR</a:t>
                      </a:r>
                      <a:endParaRPr lang="en-IN" sz="1500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b="1" i="0" u="none" strike="noStrike" dirty="0">
                          <a:solidFill>
                            <a:schemeClr val="lt1"/>
                          </a:solidFill>
                          <a:effectLst/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FINDING</a:t>
                      </a:r>
                      <a:endParaRPr lang="en-IN" sz="1500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500" b="1" i="0" u="none" strike="noStrike" dirty="0">
                          <a:solidFill>
                            <a:schemeClr val="lt1"/>
                          </a:solidFill>
                          <a:effectLst/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RESEARCH GAP</a:t>
                      </a:r>
                      <a:endParaRPr lang="en-IN" sz="1500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4227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b="1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Name:</a:t>
                      </a:r>
                      <a:r>
                        <a:rPr lang="en-US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 </a:t>
                      </a:r>
                      <a:r>
                        <a:rPr lang="en-US" altLang="en-US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Brain Tumor Identification and Classification Using Enhanced Convolution Neural Network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br>
                        <a:rPr lang="en-US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</a:br>
                      <a:r>
                        <a:rPr lang="en-US" b="1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Author:</a:t>
                      </a:r>
                      <a:r>
                        <a:rPr lang="en-US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 </a:t>
                      </a:r>
                      <a:r>
                        <a:rPr lang="en-US" altLang="en-US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J. Raju, Krteen Anand, D. Krishna Kumar, D. Sivaganesan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br>
                        <a:rPr lang="en-US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</a:br>
                      <a:r>
                        <a:rPr lang="en-US" b="1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Publisher:</a:t>
                      </a:r>
                      <a:r>
                        <a:rPr lang="en-US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 </a:t>
                      </a:r>
                      <a:r>
                        <a:rPr lang="en-US" altLang="en-US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5th International Conference on Inventive Research in Computing Applications (ICIRCA)</a:t>
                      </a:r>
                      <a:endParaRPr lang="en-IN" sz="1800" dirty="0">
                        <a:effectLst/>
                        <a:latin typeface="Times New Roman" panose="02020503050405090304" pitchFamily="18" charset="0"/>
                        <a:ea typeface="MS Mincho" panose="02020609040205080304" pitchFamily="49" charset="-128"/>
                        <a:cs typeface="Times New Roman" panose="0202050305040509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dk1"/>
                          </a:solidFill>
                          <a:effectLst/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202</a:t>
                      </a:r>
                      <a:r>
                        <a:rPr lang="en-IN" altLang="en-US" sz="1800" dirty="0">
                          <a:solidFill>
                            <a:schemeClr val="dk1"/>
                          </a:solidFill>
                          <a:effectLst/>
                          <a:latin typeface="Times New Roman" panose="02020503050405090304" pitchFamily="18" charset="0"/>
                          <a:ea typeface="+mn-ea"/>
                          <a:cs typeface="Times New Roman" panose="02020503050405090304" pitchFamily="18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90204" pitchFamily="34" charset="0"/>
                        <a:buChar char="•"/>
                      </a:pPr>
                      <a:r>
                        <a:rPr lang="en-US" altLang="en-US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CNN 7×7 model outperformed pretrained CNNs in tumor classification</a:t>
                      </a:r>
                      <a:r>
                        <a:rPr lang="en-IN" altLang="en-US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.</a:t>
                      </a:r>
                      <a:endParaRPr lang="en-US" altLang="en-US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  <a:p>
                      <a:pPr marL="285750" indent="-285750">
                        <a:buFont typeface="Arial" panose="020B0604020202090204" pitchFamily="34" charset="0"/>
                        <a:buChar char="•"/>
                      </a:pPr>
                      <a:r>
                        <a:rPr lang="en-US" altLang="en-US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Pretrained models (DenseNet‑201, ResNet‑101, SqueezeNet) boosted feature extraction</a:t>
                      </a:r>
                      <a:r>
                        <a:rPr lang="en-IN" altLang="en-US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.</a:t>
                      </a:r>
                      <a:endParaRPr lang="en-US" altLang="en-US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  <a:p>
                      <a:pPr marL="285750" indent="-285750">
                        <a:buFont typeface="Arial" panose="020B0604020202090204" pitchFamily="34" charset="0"/>
                        <a:buChar char="•"/>
                      </a:pPr>
                      <a:r>
                        <a:rPr lang="en-US" altLang="en-US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Random cropping enhanced training accuracy via data augmentation</a:t>
                      </a:r>
                      <a:r>
                        <a:rPr lang="en-IN" altLang="en-US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.</a:t>
                      </a:r>
                      <a:endParaRPr lang="en-US" altLang="en-US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  <a:p>
                      <a:pPr marL="285750" indent="-285750">
                        <a:buFont typeface="Arial" panose="020B0604020202090204" pitchFamily="34" charset="0"/>
                        <a:buChar char="•"/>
                      </a:pPr>
                      <a:r>
                        <a:rPr lang="en-US" altLang="en-US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Automated system beat manual diagnosis in speed and accuracy.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Font typeface="Arial" panose="020B0604020202090204" pitchFamily="34" charset="0"/>
                        <a:buChar char="•"/>
                      </a:pPr>
                      <a:r>
                        <a:rPr lang="en-US" altLang="en-US" sz="1800" dirty="0">
                          <a:effectLst/>
                          <a:latin typeface="Times New Roman" panose="02020503050405090304" pitchFamily="18" charset="0"/>
                          <a:ea typeface="MS Mincho" panose="02020609040205080304" pitchFamily="49" charset="-128"/>
                          <a:cs typeface="Times New Roman" panose="02020503050405090304" pitchFamily="18" charset="0"/>
                        </a:rPr>
                        <a:t>Tested only on public datasets, not clinical data</a:t>
                      </a:r>
                    </a:p>
                    <a:p>
                      <a:pPr marL="285750" indent="-28575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Font typeface="Arial" panose="020B0604020202090204" pitchFamily="34" charset="0"/>
                        <a:buChar char="•"/>
                      </a:pPr>
                      <a:r>
                        <a:rPr lang="en-US" altLang="en-US" sz="1800" dirty="0">
                          <a:effectLst/>
                          <a:latin typeface="Times New Roman" panose="02020503050405090304" pitchFamily="18" charset="0"/>
                          <a:ea typeface="MS Mincho" panose="02020609040205080304" pitchFamily="49" charset="-128"/>
                          <a:cs typeface="Times New Roman" panose="02020503050405090304" pitchFamily="18" charset="0"/>
                        </a:rPr>
                        <a:t>Tumor segmentation/localization was not included.</a:t>
                      </a:r>
                    </a:p>
                    <a:p>
                      <a:pPr marL="285750" indent="-28575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Font typeface="Arial" panose="020B0604020202090204" pitchFamily="34" charset="0"/>
                        <a:buChar char="•"/>
                      </a:pPr>
                      <a:r>
                        <a:rPr lang="en-US" altLang="en-US" sz="1800" dirty="0">
                          <a:effectLst/>
                          <a:latin typeface="Times New Roman" panose="02020503050405090304" pitchFamily="18" charset="0"/>
                          <a:ea typeface="MS Mincho" panose="02020609040205080304" pitchFamily="49" charset="-128"/>
                          <a:cs typeface="Times New Roman" panose="02020503050405090304" pitchFamily="18" charset="0"/>
                        </a:rPr>
                        <a:t>No focus on explaining AI model decisions.</a:t>
                      </a:r>
                    </a:p>
                    <a:p>
                      <a:pPr marL="285750" indent="-285750" algn="l">
                        <a:lnSpc>
                          <a:spcPct val="115000"/>
                        </a:lnSpc>
                        <a:spcAft>
                          <a:spcPts val="1000"/>
                        </a:spcAft>
                        <a:buFont typeface="Arial" panose="020B0604020202090204" pitchFamily="34" charset="0"/>
                        <a:buChar char="•"/>
                      </a:pPr>
                      <a:r>
                        <a:rPr lang="en-US" altLang="en-US" sz="1800" dirty="0">
                          <a:effectLst/>
                          <a:latin typeface="Times New Roman" panose="02020503050405090304" pitchFamily="18" charset="0"/>
                          <a:ea typeface="MS Mincho" panose="02020609040205080304" pitchFamily="49" charset="-128"/>
                          <a:cs typeface="Times New Roman" panose="02020503050405090304" pitchFamily="18" charset="0"/>
                        </a:rPr>
                        <a:t>Unknown performance across different hospitals or scanners.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441" y="76200"/>
            <a:ext cx="1828959" cy="54259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06227" y="145809"/>
            <a:ext cx="1685925" cy="4229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CHRIST</a:t>
            </a:r>
            <a:endParaRPr sz="1400">
              <a:latin typeface="Georgia" panose="02040502050405090303"/>
              <a:cs typeface="Georgia" panose="02040502050405090303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Deemed</a:t>
            </a:r>
            <a:r>
              <a:rPr sz="1200" spc="-25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 </a:t>
            </a:r>
            <a:r>
              <a:rPr sz="1200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to</a:t>
            </a:r>
            <a:r>
              <a:rPr sz="1200" spc="-20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 </a:t>
            </a:r>
            <a:r>
              <a:rPr sz="1200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be</a:t>
            </a:r>
            <a:r>
              <a:rPr sz="1200" spc="-20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University</a:t>
            </a:r>
            <a:endParaRPr sz="1200">
              <a:latin typeface="Georgia" panose="02040502050405090303"/>
              <a:cs typeface="Georgia" panose="02040502050405090303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5"/>
              </a:lnSpc>
            </a:pPr>
            <a:r>
              <a:rPr dirty="0"/>
              <a:t>Excellence</a:t>
            </a:r>
            <a:r>
              <a:rPr spc="-3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Service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12466" y="457334"/>
            <a:ext cx="5161915" cy="732037"/>
          </a:xfrm>
          <a:prstGeom prst="rect">
            <a:avLst/>
          </a:prstGeom>
        </p:spPr>
        <p:txBody>
          <a:bodyPr vert="horz" wrap="square" lIns="0" tIns="29261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dirty="0"/>
              <a:t>METHODOLOGY </a:t>
            </a:r>
            <a:endParaRPr spc="-10" dirty="0"/>
          </a:p>
        </p:txBody>
      </p:sp>
      <p:sp>
        <p:nvSpPr>
          <p:cNvPr id="5" name="TextBox 4"/>
          <p:cNvSpPr txBox="1"/>
          <p:nvPr/>
        </p:nvSpPr>
        <p:spPr>
          <a:xfrm>
            <a:off x="194333" y="1371600"/>
            <a:ext cx="8755334" cy="49847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2"/>
            <a:r>
              <a:rPr lang="en-US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1. Requirement Analysis</a:t>
            </a:r>
            <a:endParaRPr lang="en-US" altLang="en-US" sz="16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285750" lvl="2" indent="-285750">
              <a:buFont typeface="Courier New" panose="02070409020205090404" pitchFamily="49" charset="0"/>
              <a:buChar char="o"/>
            </a:pPr>
            <a:r>
              <a:rPr lang="en-US" altLang="en-US" sz="1800" b="1" dirty="0">
                <a:latin typeface="Times New Roman Bold" panose="02020503050405090304" charset="0"/>
                <a:cs typeface="Times New Roman Bold" panose="02020503050405090304" charset="0"/>
              </a:rPr>
              <a:t>Stakeholder Interviews:</a:t>
            </a:r>
            <a:r>
              <a:rPr lang="en-US" altLang="en-US" sz="1800" b="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Consulted with medical professionals and ML engineers to understand diagnostic workflow and pain points in real-time MRI analysis.</a:t>
            </a:r>
          </a:p>
          <a:p>
            <a:pPr marL="285750" lvl="2" indent="-285750">
              <a:buFont typeface="Courier New" panose="02070409020205090404" pitchFamily="49" charset="0"/>
              <a:buChar char="o"/>
            </a:pPr>
            <a:r>
              <a:rPr lang="en-US" altLang="en-US" sz="1800" b="1" dirty="0">
                <a:latin typeface="Times New Roman Bold" panose="02020503050405090304" charset="0"/>
                <a:cs typeface="Times New Roman Bold" panose="02020503050405090304" charset="0"/>
              </a:rPr>
              <a:t>Data Flow Analysis: </a:t>
            </a:r>
            <a:r>
              <a:rPr lang="en-US" altLang="en-US" sz="1800" b="0" dirty="0">
                <a:latin typeface="Times New Roman" panose="02020503050405090304" pitchFamily="18" charset="0"/>
                <a:cs typeface="Times New Roman" panose="02020503050405090304" pitchFamily="18" charset="0"/>
              </a:rPr>
              <a:t>Designed workflows for uploading MRI scans → preprocessing → prediction → heatmap explanation → logging results.</a:t>
            </a:r>
          </a:p>
          <a:p>
            <a:pPr marL="285750" lvl="2" indent="-285750">
              <a:buFont typeface="Courier New" panose="02070409020205090404" pitchFamily="49" charset="0"/>
              <a:buChar char="o"/>
            </a:pPr>
            <a:r>
              <a:rPr lang="en-US" altLang="en-US" sz="1800" b="1" dirty="0">
                <a:latin typeface="Times New Roman Bold" panose="02020503050405090304" charset="0"/>
                <a:cs typeface="Times New Roman Bold" panose="02020503050405090304" charset="0"/>
              </a:rPr>
              <a:t>Tech Stack Evaluation:</a:t>
            </a:r>
            <a:r>
              <a:rPr lang="en-US" altLang="en-US" sz="1800" b="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Benchmarked TensorFlow, PyTorch, and ONNX for performance; selected EfficientNet + ONNX Runtime for optimal speed and accuracy.</a:t>
            </a:r>
          </a:p>
          <a:p>
            <a:pPr marL="285750" lvl="2" indent="-285750">
              <a:buFont typeface="Courier New" panose="02070409020205090404" pitchFamily="49" charset="0"/>
              <a:buChar char="o"/>
            </a:pPr>
            <a:endParaRPr lang="en-US" altLang="en-US" sz="1600" b="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2"/>
            <a:r>
              <a:rPr lang="en-US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2. System Design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2"/>
            <a:r>
              <a:rPr lang="en-US" sz="16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Hybrid Database Architecture</a:t>
            </a:r>
            <a:r>
              <a:rPr lang="en-US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:</a:t>
            </a:r>
          </a:p>
          <a:p>
            <a:pPr lvl="2"/>
            <a:endParaRPr lang="en-US" altLang="en-US" sz="16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285750" lvl="3" indent="-285750">
              <a:buFont typeface="Courier New" panose="02070409020205090404" pitchFamily="49" charset="0"/>
              <a:buChar char="o"/>
            </a:pPr>
            <a:r>
              <a:rPr lang="en-US" altLang="en-US" sz="1800" b="1" dirty="0">
                <a:latin typeface="Times New Roman Bold" panose="02020503050405090304" charset="0"/>
                <a:cs typeface="Times New Roman Bold" panose="02020503050405090304" charset="0"/>
              </a:rPr>
              <a:t>MongoDB (NoSQL):</a:t>
            </a:r>
            <a:r>
              <a:rPr lang="en-US" altLang="en-US" sz="1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Store scan logs, model inferences, and patient metadata.</a:t>
            </a:r>
          </a:p>
          <a:p>
            <a:pPr marL="285750" lvl="3" indent="-285750">
              <a:buFont typeface="Courier New" panose="02070409020205090404" pitchFamily="49" charset="0"/>
              <a:buChar char="o"/>
            </a:pPr>
            <a:r>
              <a:rPr lang="en-US" altLang="en-US" sz="1800" b="1" dirty="0">
                <a:latin typeface="Times New Roman Bold" panose="02020503050405090304" charset="0"/>
                <a:cs typeface="Times New Roman Bold" panose="02020503050405090304" charset="0"/>
              </a:rPr>
              <a:t>PostgreSQL (SQL):</a:t>
            </a:r>
            <a:r>
              <a:rPr lang="en-US" altLang="en-US" sz="1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Manage structured records like doctor-patient mappings and audit trails.</a:t>
            </a:r>
          </a:p>
          <a:p>
            <a:pPr marL="285750" lvl="3" indent="-285750">
              <a:buFont typeface="Courier New" panose="02070409020205090404" pitchFamily="49" charset="0"/>
              <a:buChar char="o"/>
            </a:pPr>
            <a:r>
              <a:rPr lang="en-US" altLang="en-US" sz="1800" b="1" dirty="0">
                <a:latin typeface="Times New Roman Bold" panose="02020503050405090304" charset="0"/>
                <a:cs typeface="Times New Roman Bold" panose="02020503050405090304" charset="0"/>
              </a:rPr>
              <a:t>FastAPI (Python):</a:t>
            </a:r>
            <a:r>
              <a:rPr lang="en-US" altLang="en-US" sz="1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Expose tumor classification via asynchronous REST endpoints.</a:t>
            </a:r>
          </a:p>
          <a:p>
            <a:pPr marL="285750" lvl="3" indent="-285750">
              <a:buFont typeface="Courier New" panose="02070409020205090404" pitchFamily="49" charset="0"/>
              <a:buChar char="o"/>
            </a:pPr>
            <a:r>
              <a:rPr lang="en-US" altLang="en-US" sz="1800" b="1" dirty="0">
                <a:latin typeface="Times New Roman Bold" panose="02020503050405090304" charset="0"/>
                <a:cs typeface="Times New Roman Bold" panose="02020503050405090304" charset="0"/>
              </a:rPr>
              <a:t>Microservices:</a:t>
            </a:r>
            <a:r>
              <a:rPr lang="en-US" altLang="en-US" sz="1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Deploy AI inference as a Dockerized FastAPI container for modular and scalable cloud integration.</a:t>
            </a:r>
          </a:p>
          <a:p>
            <a:pPr marL="285750" lvl="3" indent="-285750">
              <a:buFont typeface="Courier New" panose="02070409020205090404" pitchFamily="49" charset="0"/>
              <a:buChar char="o"/>
            </a:pPr>
            <a:endParaRPr lang="en-US" altLang="en-US" sz="1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06227" y="145809"/>
            <a:ext cx="1685925" cy="4229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CHRIST</a:t>
            </a:r>
            <a:endParaRPr sz="1400">
              <a:latin typeface="Georgia" panose="02040502050405090303"/>
              <a:cs typeface="Georgia" panose="02040502050405090303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Deemed</a:t>
            </a:r>
            <a:r>
              <a:rPr sz="1200" spc="-25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 </a:t>
            </a:r>
            <a:r>
              <a:rPr sz="1200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to</a:t>
            </a:r>
            <a:r>
              <a:rPr sz="1200" spc="-20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 </a:t>
            </a:r>
            <a:r>
              <a:rPr sz="1200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be</a:t>
            </a:r>
            <a:r>
              <a:rPr sz="1200" spc="-20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University</a:t>
            </a:r>
            <a:endParaRPr sz="1200">
              <a:latin typeface="Georgia" panose="02040502050405090303"/>
              <a:cs typeface="Georgia" panose="02040502050405090303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5"/>
              </a:lnSpc>
            </a:pPr>
            <a:r>
              <a:rPr dirty="0"/>
              <a:t>Excellence</a:t>
            </a:r>
            <a:r>
              <a:rPr spc="-3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Service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12466" y="304934"/>
            <a:ext cx="5161915" cy="732037"/>
          </a:xfrm>
          <a:prstGeom prst="rect">
            <a:avLst/>
          </a:prstGeom>
        </p:spPr>
        <p:txBody>
          <a:bodyPr vert="horz" wrap="square" lIns="0" tIns="29261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dirty="0"/>
              <a:t>METHODOLOGY </a:t>
            </a:r>
            <a:endParaRPr spc="-10" dirty="0"/>
          </a:p>
        </p:txBody>
      </p:sp>
      <p:sp>
        <p:nvSpPr>
          <p:cNvPr id="7" name="TextBox 6"/>
          <p:cNvSpPr txBox="1"/>
          <p:nvPr/>
        </p:nvSpPr>
        <p:spPr>
          <a:xfrm>
            <a:off x="301036" y="1207135"/>
            <a:ext cx="8579686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3. Development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altLang="en-US" sz="1600" b="1" dirty="0">
                <a:latin typeface="Times New Roman Bold" panose="02020503050405090304" charset="0"/>
                <a:cs typeface="Times New Roman Bold" panose="02020503050405090304" charset="0"/>
              </a:rPr>
              <a:t>Frontend (React + Material-UI):</a:t>
            </a:r>
          </a:p>
          <a:p>
            <a:r>
              <a:rPr lang="en-US" altLang="en-US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Intuitive dashboard for scan upload, inference display, and Grad-CAM heatmap visualization.</a:t>
            </a:r>
          </a:p>
          <a:p>
            <a:r>
              <a:rPr lang="en-US" altLang="en-US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Mobile-responsive interface for clinical usability.</a:t>
            </a:r>
          </a:p>
          <a:p>
            <a:r>
              <a:rPr lang="en-US" altLang="en-US" sz="1600" b="1" dirty="0">
                <a:latin typeface="Times New Roman Bold" panose="02020503050405090304" charset="0"/>
                <a:cs typeface="Times New Roman Bold" panose="02020503050405090304" charset="0"/>
              </a:rPr>
              <a:t>Backend (FastAPI + Uvicorn):</a:t>
            </a:r>
          </a:p>
          <a:p>
            <a:r>
              <a:rPr lang="en-US" altLang="en-US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Async REST endpoints for classification using ONNX Runtime-accelerated models.</a:t>
            </a:r>
          </a:p>
          <a:p>
            <a:r>
              <a:rPr lang="en-US" altLang="en-US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Integrated TensorRT support for GPU acceleration.</a:t>
            </a:r>
          </a:p>
          <a:p>
            <a:r>
              <a:rPr lang="en-US" altLang="en-US" sz="1600" b="1" dirty="0">
                <a:latin typeface="Times New Roman Bold" panose="02020503050405090304" charset="0"/>
                <a:cs typeface="Times New Roman Bold" panose="02020503050405090304" charset="0"/>
              </a:rPr>
              <a:t>Database Integration:</a:t>
            </a:r>
          </a:p>
          <a:p>
            <a:r>
              <a:rPr lang="en-US" altLang="en-US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MongoDB Atlas: Store inferences, timestamps, Grad-CAM maps, and diagnostic notes.</a:t>
            </a:r>
          </a:p>
          <a:p>
            <a:r>
              <a:rPr lang="en-US" altLang="en-US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PostgreSQL RDS: Handle hospital/doctor mappings, user management, and event logs.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0682" y="3962618"/>
            <a:ext cx="8305800" cy="20916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4. AI/ML Integration</a:t>
            </a:r>
            <a:endParaRPr lang="en-US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endParaRPr lang="en-US" altLang="en-US" sz="16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altLang="en-US" sz="1600" b="1" dirty="0">
                <a:latin typeface="Times New Roman Bold" panose="02020503050405090304" charset="0"/>
                <a:cs typeface="Times New Roman Bold" panose="02020503050405090304" charset="0"/>
              </a:rPr>
              <a:t>Model Backbone:</a:t>
            </a:r>
            <a:r>
              <a:rPr lang="en-US" altLang="en-US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EfficientNetB0 trained on labeled MRI datasets with augmentation.</a:t>
            </a:r>
          </a:p>
          <a:p>
            <a:r>
              <a:rPr lang="en-US" altLang="en-US" sz="1600" b="1" dirty="0">
                <a:latin typeface="Times New Roman Bold" panose="02020503050405090304" charset="0"/>
                <a:cs typeface="Times New Roman Bold" panose="02020503050405090304" charset="0"/>
              </a:rPr>
              <a:t>Model Optimization:</a:t>
            </a:r>
            <a:r>
              <a:rPr lang="en-US" altLang="en-US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Converted to ONNX and optimized via TensorRT; quantized with TFLite for edge devices.</a:t>
            </a:r>
          </a:p>
          <a:p>
            <a:r>
              <a:rPr lang="en-US" altLang="en-US" sz="1600" b="1" dirty="0">
                <a:latin typeface="Times New Roman Bold" panose="02020503050405090304" charset="0"/>
                <a:cs typeface="Times New Roman Bold" panose="02020503050405090304" charset="0"/>
              </a:rPr>
              <a:t>Explainability:</a:t>
            </a:r>
            <a:r>
              <a:rPr lang="en-US" altLang="en-US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Grad-CAM added using tf-keras-vis for visual interpretability of tumor areas.</a:t>
            </a:r>
          </a:p>
          <a:p>
            <a:r>
              <a:rPr lang="en-US" altLang="en-US" sz="1600" b="1" dirty="0">
                <a:latin typeface="Times New Roman Bold" panose="02020503050405090304" charset="0"/>
                <a:cs typeface="Times New Roman Bold" panose="02020503050405090304" charset="0"/>
              </a:rPr>
              <a:t>Containerization:</a:t>
            </a:r>
            <a:r>
              <a:rPr lang="en-US" altLang="en-US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Model wrapped in Docker for easy deployment across cloud services.</a:t>
            </a:r>
          </a:p>
          <a:p>
            <a:endParaRPr lang="en-US" altLang="en-US" sz="16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06227" y="145809"/>
            <a:ext cx="1685925" cy="4229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CHRIST</a:t>
            </a:r>
            <a:endParaRPr sz="1400">
              <a:latin typeface="Georgia" panose="02040502050405090303"/>
              <a:cs typeface="Georgia" panose="02040502050405090303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Deemed</a:t>
            </a:r>
            <a:r>
              <a:rPr sz="1200" spc="-25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 </a:t>
            </a:r>
            <a:r>
              <a:rPr sz="1200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to</a:t>
            </a:r>
            <a:r>
              <a:rPr sz="1200" spc="-20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 </a:t>
            </a:r>
            <a:r>
              <a:rPr sz="1200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be</a:t>
            </a:r>
            <a:r>
              <a:rPr sz="1200" spc="-20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University</a:t>
            </a:r>
            <a:endParaRPr sz="1200">
              <a:latin typeface="Georgia" panose="02040502050405090303"/>
              <a:cs typeface="Georgia" panose="02040502050405090303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5"/>
              </a:lnSpc>
            </a:pPr>
            <a:r>
              <a:rPr dirty="0"/>
              <a:t>Excellence</a:t>
            </a:r>
            <a:r>
              <a:rPr spc="-3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Service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12466" y="1295534"/>
            <a:ext cx="5161915" cy="732037"/>
          </a:xfrm>
          <a:prstGeom prst="rect">
            <a:avLst/>
          </a:prstGeom>
        </p:spPr>
        <p:txBody>
          <a:bodyPr vert="horz" wrap="square" lIns="0" tIns="29261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dirty="0"/>
              <a:t>METHODOLOGY </a:t>
            </a:r>
            <a:endParaRPr spc="-10" dirty="0"/>
          </a:p>
        </p:txBody>
      </p:sp>
      <p:sp>
        <p:nvSpPr>
          <p:cNvPr id="5" name="TextBox 4"/>
          <p:cNvSpPr txBox="1"/>
          <p:nvPr/>
        </p:nvSpPr>
        <p:spPr>
          <a:xfrm>
            <a:off x="312466" y="2209800"/>
            <a:ext cx="8526734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2">
              <a:lnSpc>
                <a:spcPct val="150000"/>
              </a:lnSpc>
            </a:pPr>
            <a:r>
              <a:rPr lang="en-US" sz="16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5. Testing &amp; Deployment</a:t>
            </a:r>
            <a:endParaRPr lang="en-US" sz="16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2">
              <a:lnSpc>
                <a:spcPct val="150000"/>
              </a:lnSpc>
            </a:pPr>
            <a:r>
              <a:rPr lang="en-US" altLang="en-US" sz="1600" b="1" dirty="0">
                <a:latin typeface="Times New Roman Bold" panose="02020503050405090304" charset="0"/>
                <a:cs typeface="Times New Roman Bold" panose="02020503050405090304" charset="0"/>
              </a:rPr>
              <a:t>Testing Strategy:</a:t>
            </a:r>
          </a:p>
          <a:p>
            <a:pPr lvl="2">
              <a:lnSpc>
                <a:spcPct val="150000"/>
              </a:lnSpc>
            </a:pPr>
            <a:r>
              <a:rPr lang="en-US" altLang="en-US" sz="1600" b="1" dirty="0">
                <a:latin typeface="Times New Roman Bold" panose="02020503050405090304" charset="0"/>
                <a:cs typeface="Times New Roman Bold" panose="02020503050405090304" charset="0"/>
              </a:rPr>
              <a:t>Pytest:</a:t>
            </a:r>
            <a:r>
              <a:rPr lang="en-US" altLang="en-US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For unit and integration testing of FastAPI endpoints and prediction logic.</a:t>
            </a:r>
          </a:p>
          <a:p>
            <a:pPr lvl="2">
              <a:lnSpc>
                <a:spcPct val="150000"/>
              </a:lnSpc>
            </a:pPr>
            <a:r>
              <a:rPr lang="en-US" altLang="en-US" sz="1600" b="1" dirty="0">
                <a:latin typeface="Times New Roman Bold" panose="02020503050405090304" charset="0"/>
                <a:cs typeface="Times New Roman Bold" panose="02020503050405090304" charset="0"/>
              </a:rPr>
              <a:t>Postman:</a:t>
            </a:r>
            <a:r>
              <a:rPr lang="en-US" altLang="en-US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To validate prediction API and Grad-CAM image generation.</a:t>
            </a:r>
          </a:p>
          <a:p>
            <a:pPr lvl="2">
              <a:lnSpc>
                <a:spcPct val="150000"/>
              </a:lnSpc>
            </a:pPr>
            <a:endParaRPr lang="en-US" altLang="en-US" sz="16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2">
              <a:lnSpc>
                <a:spcPct val="150000"/>
              </a:lnSpc>
            </a:pPr>
            <a:r>
              <a:rPr lang="en-US" altLang="en-US" sz="1600" b="1" dirty="0">
                <a:latin typeface="Times New Roman Bold" panose="02020503050405090304" charset="0"/>
                <a:cs typeface="Times New Roman Bold" panose="02020503050405090304" charset="0"/>
              </a:rPr>
              <a:t>Deployment Strategy:</a:t>
            </a:r>
          </a:p>
          <a:p>
            <a:pPr lvl="2">
              <a:lnSpc>
                <a:spcPct val="150000"/>
              </a:lnSpc>
            </a:pPr>
            <a:r>
              <a:rPr lang="en-US" altLang="en-US" sz="1600" b="1" dirty="0">
                <a:latin typeface="Times New Roman Bold" panose="02020503050405090304" charset="0"/>
                <a:cs typeface="Times New Roman Bold" panose="02020503050405090304" charset="0"/>
              </a:rPr>
              <a:t>Frontend:</a:t>
            </a:r>
            <a:r>
              <a:rPr lang="en-US" altLang="en-US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Hosted via Vercel or Netlify.</a:t>
            </a:r>
          </a:p>
          <a:p>
            <a:pPr lvl="2">
              <a:lnSpc>
                <a:spcPct val="150000"/>
              </a:lnSpc>
            </a:pPr>
            <a:r>
              <a:rPr lang="en-US" altLang="en-US" sz="1600" b="1" dirty="0">
                <a:latin typeface="Times New Roman Bold" panose="02020503050405090304" charset="0"/>
                <a:cs typeface="Times New Roman Bold" panose="02020503050405090304" charset="0"/>
              </a:rPr>
              <a:t>Backend:</a:t>
            </a:r>
            <a:r>
              <a:rPr lang="en-US" altLang="en-US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Deployed using AWS Lambda (serverless) or Google Cloud Run (Dockerized inference).</a:t>
            </a:r>
          </a:p>
          <a:p>
            <a:pPr lvl="2">
              <a:lnSpc>
                <a:spcPct val="150000"/>
              </a:lnSpc>
            </a:pPr>
            <a:r>
              <a:rPr lang="en-US" altLang="en-US" sz="1600" b="1" dirty="0">
                <a:latin typeface="Times New Roman Bold" panose="02020503050405090304" charset="0"/>
                <a:cs typeface="Times New Roman Bold" panose="02020503050405090304" charset="0"/>
              </a:rPr>
              <a:t>Databases:</a:t>
            </a:r>
            <a:r>
              <a:rPr lang="en-US" altLang="en-US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MongoDB (Atlas) and PostgreSQL (RDS) with nightly backup policies.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06227" y="145809"/>
            <a:ext cx="1685925" cy="4229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CHRIST</a:t>
            </a:r>
            <a:endParaRPr sz="1400">
              <a:latin typeface="Georgia" panose="02040502050405090303"/>
              <a:cs typeface="Georgia" panose="02040502050405090303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Deemed</a:t>
            </a:r>
            <a:r>
              <a:rPr sz="1200" spc="-25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 </a:t>
            </a:r>
            <a:r>
              <a:rPr sz="1200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to</a:t>
            </a:r>
            <a:r>
              <a:rPr sz="1200" spc="-20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 </a:t>
            </a:r>
            <a:r>
              <a:rPr sz="1200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be</a:t>
            </a:r>
            <a:r>
              <a:rPr sz="1200" spc="-20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University</a:t>
            </a:r>
            <a:endParaRPr sz="1200">
              <a:latin typeface="Georgia" panose="02040502050405090303"/>
              <a:cs typeface="Georgia" panose="02040502050405090303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5"/>
              </a:lnSpc>
            </a:pPr>
            <a:r>
              <a:rPr dirty="0"/>
              <a:t>Excellence</a:t>
            </a:r>
            <a:r>
              <a:rPr spc="-3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Service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12466" y="202699"/>
            <a:ext cx="5161915" cy="732037"/>
          </a:xfrm>
          <a:prstGeom prst="rect">
            <a:avLst/>
          </a:prstGeom>
        </p:spPr>
        <p:txBody>
          <a:bodyPr vert="horz" wrap="square" lIns="0" tIns="29261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pc="-10" dirty="0"/>
              <a:t>TECHNOLOGY AND TOOLS</a:t>
            </a:r>
            <a:endParaRPr spc="-10" dirty="0"/>
          </a:p>
        </p:txBody>
      </p:sp>
      <p:sp>
        <p:nvSpPr>
          <p:cNvPr id="5" name="TextBox 4"/>
          <p:cNvSpPr txBox="1"/>
          <p:nvPr/>
        </p:nvSpPr>
        <p:spPr>
          <a:xfrm>
            <a:off x="312466" y="1219200"/>
            <a:ext cx="7993334" cy="4592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1500" b="1" dirty="0">
                <a:latin typeface="Times New Roman Bold" panose="02020503050405090304" charset="0"/>
                <a:cs typeface="Times New Roman Bold" panose="02020503050405090304" charset="0"/>
              </a:rPr>
              <a:t>Hardware Requirements: </a:t>
            </a:r>
          </a:p>
          <a:p>
            <a:pPr marL="285750" lvl="1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sz="15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GPU-enabled workstation (NVIDIA GPU recommended for </a:t>
            </a:r>
            <a:r>
              <a:rPr lang="en-US" sz="1500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TensorRT</a:t>
            </a:r>
            <a:r>
              <a:rPr lang="en-US" sz="15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) </a:t>
            </a:r>
          </a:p>
          <a:p>
            <a:pPr marL="285750" lvl="1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sz="15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Sufficient RAM (e.g., 16GB+) for model loading and processing </a:t>
            </a:r>
          </a:p>
          <a:p>
            <a:pPr marL="285750" lvl="1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sz="15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Adequate storage for datasets and models </a:t>
            </a:r>
          </a:p>
          <a:p>
            <a:pPr lvl="1">
              <a:lnSpc>
                <a:spcPct val="150000"/>
              </a:lnSpc>
            </a:pPr>
            <a:endParaRPr lang="en-US" sz="15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sz="1500" b="1" dirty="0">
                <a:latin typeface="Times New Roman Bold" panose="02020503050405090304" charset="0"/>
                <a:cs typeface="Times New Roman Bold" panose="02020503050405090304" charset="0"/>
              </a:rPr>
              <a:t>Software Requirements: </a:t>
            </a:r>
          </a:p>
          <a:p>
            <a:pPr marL="285750" lvl="1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sz="15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Deep Learning Framework: TensorFlow 2.x (or </a:t>
            </a:r>
            <a:r>
              <a:rPr lang="en-US" sz="1500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PyTorch</a:t>
            </a:r>
            <a:r>
              <a:rPr lang="en-US" sz="15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) </a:t>
            </a:r>
          </a:p>
          <a:p>
            <a:pPr marL="285750" lvl="1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sz="15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Libraries: </a:t>
            </a:r>
            <a:r>
              <a:rPr lang="en-US" sz="1500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tf.keras</a:t>
            </a:r>
            <a:r>
              <a:rPr lang="en-US" sz="15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</a:t>
            </a:r>
            <a:r>
              <a:rPr lang="en-US" sz="1500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tensorflow</a:t>
            </a:r>
            <a:r>
              <a:rPr lang="en-US" sz="15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-lite, tf2onnx (or keras2onnx), </a:t>
            </a:r>
            <a:r>
              <a:rPr lang="en-US" sz="1500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onnxruntime</a:t>
            </a:r>
            <a:r>
              <a:rPr lang="en-US" sz="15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</a:t>
            </a:r>
            <a:r>
              <a:rPr lang="en-US" sz="1500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nvidia-tensorrt</a:t>
            </a:r>
            <a:r>
              <a:rPr lang="en-US" sz="15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(if using NVIDIA GPUs), </a:t>
            </a:r>
            <a:r>
              <a:rPr lang="en-US" sz="1500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fastapi</a:t>
            </a:r>
            <a:r>
              <a:rPr lang="en-US" sz="15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</a:t>
            </a:r>
            <a:r>
              <a:rPr lang="en-US" sz="1500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uvicorn</a:t>
            </a:r>
            <a:r>
              <a:rPr lang="en-US" sz="15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</a:t>
            </a:r>
            <a:r>
              <a:rPr lang="en-US" sz="1500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torchserve</a:t>
            </a:r>
            <a:r>
              <a:rPr lang="en-US" sz="15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or </a:t>
            </a:r>
            <a:r>
              <a:rPr lang="en-US" sz="1500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tensorflow</a:t>
            </a:r>
            <a:r>
              <a:rPr lang="en-US" sz="15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-serving-</a:t>
            </a:r>
            <a:r>
              <a:rPr lang="en-US" sz="1500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api</a:t>
            </a:r>
            <a:r>
              <a:rPr lang="en-US" sz="15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</a:t>
            </a:r>
            <a:r>
              <a:rPr lang="en-US" sz="1500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tf</a:t>
            </a:r>
            <a:r>
              <a:rPr lang="en-US" sz="15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-</a:t>
            </a:r>
            <a:r>
              <a:rPr lang="en-US" sz="1500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keras</a:t>
            </a:r>
            <a:r>
              <a:rPr lang="en-US" sz="15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-vis (for explainability) </a:t>
            </a:r>
          </a:p>
          <a:p>
            <a:pPr marL="285750" lvl="1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sz="15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Containerization: Docker </a:t>
            </a:r>
          </a:p>
          <a:p>
            <a:pPr marL="285750" lvl="1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sz="15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Operating System: Linux (Ubuntu recommended) or Windows with WSL2 </a:t>
            </a:r>
          </a:p>
          <a:p>
            <a:pPr marL="285750" lvl="1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sz="15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Python Version: Python 3.8+ 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06227" y="145809"/>
            <a:ext cx="1685925" cy="4229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CHRIST</a:t>
            </a:r>
            <a:endParaRPr sz="1400">
              <a:latin typeface="Georgia" panose="02040502050405090303"/>
              <a:cs typeface="Georgia" panose="02040502050405090303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Deemed</a:t>
            </a:r>
            <a:r>
              <a:rPr sz="1200" spc="-25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 </a:t>
            </a:r>
            <a:r>
              <a:rPr sz="1200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to</a:t>
            </a:r>
            <a:r>
              <a:rPr sz="1200" spc="-20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 </a:t>
            </a:r>
            <a:r>
              <a:rPr sz="1200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be</a:t>
            </a:r>
            <a:r>
              <a:rPr sz="1200" spc="-20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University</a:t>
            </a:r>
            <a:endParaRPr sz="1200">
              <a:latin typeface="Georgia" panose="02040502050405090303"/>
              <a:cs typeface="Georgia" panose="02040502050405090303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5"/>
              </a:lnSpc>
            </a:pPr>
            <a:r>
              <a:rPr dirty="0"/>
              <a:t>Excellence</a:t>
            </a:r>
            <a:r>
              <a:rPr spc="-3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Service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8674" y="223033"/>
            <a:ext cx="7431325" cy="695584"/>
          </a:xfrm>
          <a:prstGeom prst="rect">
            <a:avLst/>
          </a:prstGeom>
        </p:spPr>
        <p:txBody>
          <a:bodyPr vert="horz" wrap="square" lIns="0" tIns="29261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600" spc="-10" dirty="0"/>
              <a:t>PROJECT TIMELINE </a:t>
            </a:r>
            <a:endParaRPr sz="2600" spc="-1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219200" y="1090206"/>
          <a:ext cx="6514707" cy="4345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7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139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7995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Tasks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4156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July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500" dirty="0"/>
                        <a:t>Initial setup of development environment (TensorFlow/</a:t>
                      </a:r>
                      <a:r>
                        <a:rPr lang="en-US" sz="1500" dirty="0" err="1"/>
                        <a:t>PyTorch</a:t>
                      </a:r>
                      <a:r>
                        <a:rPr lang="en-US" sz="1500" dirty="0"/>
                        <a:t>, Docker). </a:t>
                      </a:r>
                    </a:p>
                    <a:p>
                      <a:endParaRPr lang="en-US" sz="1500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68137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August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90204" pitchFamily="34" charset="0"/>
                        <a:buChar char="•"/>
                      </a:pPr>
                      <a:r>
                        <a:rPr lang="en-US" sz="1500" dirty="0"/>
                        <a:t>Implementation of new CNN backbone (e.g., EfficientNetB0) and transfer learning. </a:t>
                      </a:r>
                    </a:p>
                    <a:p>
                      <a:pPr marL="342900" indent="-342900">
                        <a:buFont typeface="Arial" panose="020B0604020202090204" pitchFamily="34" charset="0"/>
                        <a:buChar char="•"/>
                      </a:pPr>
                      <a:r>
                        <a:rPr lang="en-US" sz="1500" dirty="0"/>
                        <a:t>Initial training and evaluation of the new backbone</a:t>
                      </a:r>
                      <a:endParaRPr lang="en-US" sz="1500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4156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September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90204" pitchFamily="34" charset="0"/>
                        <a:buChar char="•"/>
                      </a:pPr>
                      <a:r>
                        <a:rPr lang="en-US" sz="1500" dirty="0"/>
                        <a:t>Experimentation with Post-Training Quantization (float16, int8) using TensorFlow Lite/ONNX. </a:t>
                      </a:r>
                    </a:p>
                    <a:p>
                      <a:pPr marL="342900" indent="-342900">
                        <a:buFont typeface="Arial" panose="020B0604020202090204" pitchFamily="34" charset="0"/>
                        <a:buChar char="•"/>
                      </a:pPr>
                      <a:r>
                        <a:rPr lang="en-US" sz="1500" dirty="0"/>
                        <a:t>Performance comparison of quantized models.</a:t>
                      </a:r>
                    </a:p>
                    <a:p>
                      <a:endParaRPr lang="en-US" sz="2000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4156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October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90204" pitchFamily="34" charset="0"/>
                        <a:buChar char="•"/>
                      </a:pPr>
                      <a:r>
                        <a:rPr lang="en-US" sz="1500" dirty="0"/>
                        <a:t>Development of </a:t>
                      </a:r>
                      <a:r>
                        <a:rPr lang="en-US" sz="1500" dirty="0" err="1"/>
                        <a:t>FastAPI</a:t>
                      </a:r>
                      <a:r>
                        <a:rPr lang="en-US" sz="1500" dirty="0"/>
                        <a:t>-based inference API. </a:t>
                      </a:r>
                    </a:p>
                    <a:p>
                      <a:pPr marL="342900" indent="-342900">
                        <a:buFont typeface="Arial" panose="020B0604020202090204" pitchFamily="34" charset="0"/>
                        <a:buChar char="•"/>
                      </a:pPr>
                      <a:r>
                        <a:rPr lang="en-US" sz="1500" dirty="0"/>
                        <a:t>Integration with TF Serving/ONNX Runtime Server</a:t>
                      </a:r>
                    </a:p>
                    <a:p>
                      <a:endParaRPr lang="en-US" sz="2000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06227" y="145809"/>
            <a:ext cx="1685925" cy="4229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CHRIST</a:t>
            </a:r>
            <a:endParaRPr sz="1400">
              <a:latin typeface="Georgia" panose="02040502050405090303"/>
              <a:cs typeface="Georgia" panose="02040502050405090303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Deemed</a:t>
            </a:r>
            <a:r>
              <a:rPr sz="1200" spc="-25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 </a:t>
            </a:r>
            <a:r>
              <a:rPr sz="1200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to</a:t>
            </a:r>
            <a:r>
              <a:rPr sz="1200" spc="-20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 </a:t>
            </a:r>
            <a:r>
              <a:rPr sz="1200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be</a:t>
            </a:r>
            <a:r>
              <a:rPr sz="1200" spc="-20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University</a:t>
            </a:r>
            <a:endParaRPr sz="1200">
              <a:latin typeface="Georgia" panose="02040502050405090303"/>
              <a:cs typeface="Georgia" panose="02040502050405090303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5"/>
              </a:lnSpc>
            </a:pPr>
            <a:r>
              <a:rPr dirty="0"/>
              <a:t>Excellence</a:t>
            </a:r>
            <a:r>
              <a:rPr spc="-3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Service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4997" y="614457"/>
            <a:ext cx="7431325" cy="695584"/>
          </a:xfrm>
          <a:prstGeom prst="rect">
            <a:avLst/>
          </a:prstGeom>
        </p:spPr>
        <p:txBody>
          <a:bodyPr vert="horz" wrap="square" lIns="0" tIns="29261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600" spc="-10" dirty="0"/>
              <a:t>CONCLUSION</a:t>
            </a:r>
            <a:endParaRPr sz="2600" spc="-10" dirty="0"/>
          </a:p>
        </p:txBody>
      </p:sp>
      <p:sp>
        <p:nvSpPr>
          <p:cNvPr id="6" name="TextBox 5"/>
          <p:cNvSpPr txBox="1"/>
          <p:nvPr/>
        </p:nvSpPr>
        <p:spPr>
          <a:xfrm>
            <a:off x="192602" y="1448735"/>
            <a:ext cx="8766651" cy="5307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latin typeface="Times New Roman Bold" panose="02020503050405090304" charset="0"/>
                <a:cs typeface="Times New Roman Bold" panose="02020503050405090304" charset="0"/>
              </a:rPr>
              <a:t>Current Achievements:</a:t>
            </a:r>
          </a:p>
          <a:p>
            <a:endParaRPr lang="en-US" sz="15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This project outlined a clear strategy to significantly enhance the </a:t>
            </a:r>
            <a:r>
              <a:rPr lang="en-US" sz="1600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NeuroCure</a:t>
            </a:r>
            <a:r>
              <a:rPr lang="en-US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system's brain tumor classification capabilities, focusing on inference speed and performance.</a:t>
            </a: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By proposing the adoption of efficient CNN backbones, post-training quantization, and robust deployment stacks, we aim to overcome the limitations of current deep learning models in clinical settings.</a:t>
            </a: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integration of explainability methods will foster trust and provide crucial insights for medical professionals.</a:t>
            </a:r>
          </a:p>
          <a:p>
            <a:endParaRPr lang="en-US" sz="15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en-US" sz="1800" b="1" dirty="0">
                <a:latin typeface="Times New Roman Bold" panose="02020503050405090304" charset="0"/>
                <a:cs typeface="Times New Roman Bold" panose="02020503050405090304" charset="0"/>
              </a:rPr>
              <a:t>Expected Impact:</a:t>
            </a:r>
          </a:p>
          <a:p>
            <a:endParaRPr lang="en-US" sz="15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optimized </a:t>
            </a:r>
            <a:r>
              <a:rPr lang="en-US" sz="1600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NeuroCure</a:t>
            </a:r>
            <a:r>
              <a:rPr lang="en-US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system is expected to deliver faster and more accurate brain tumor diagnoses, contributing to improved patient outcomes.</a:t>
            </a: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Reduced inference latency and model size will enable broader deployment, including on resource-constrained edge devices.</a:t>
            </a: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sz="16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explainable AI component will bridge the gap between complex AI decisions and practical medical understanding.</a:t>
            </a:r>
          </a:p>
          <a:p>
            <a:endParaRPr lang="en-US" sz="15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endParaRPr lang="en-US" sz="15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just"/>
            <a:endParaRPr lang="en-US" sz="2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06227" y="145809"/>
            <a:ext cx="1685925" cy="4229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CHRIST</a:t>
            </a:r>
            <a:endParaRPr sz="1400">
              <a:latin typeface="Georgia" panose="02040502050405090303"/>
              <a:cs typeface="Georgia" panose="02040502050405090303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Deemed</a:t>
            </a:r>
            <a:r>
              <a:rPr sz="1200" spc="-25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 </a:t>
            </a:r>
            <a:r>
              <a:rPr sz="1200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to</a:t>
            </a:r>
            <a:r>
              <a:rPr sz="1200" spc="-20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 </a:t>
            </a:r>
            <a:r>
              <a:rPr sz="1200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be</a:t>
            </a:r>
            <a:r>
              <a:rPr sz="1200" spc="-20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Georgia" panose="02040502050405090303"/>
                <a:cs typeface="Georgia" panose="02040502050405090303"/>
              </a:rPr>
              <a:t>University</a:t>
            </a:r>
            <a:endParaRPr sz="1200">
              <a:latin typeface="Georgia" panose="02040502050405090303"/>
              <a:cs typeface="Georgia" panose="02040502050405090303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65"/>
              </a:lnSpc>
            </a:pPr>
            <a:r>
              <a:rPr dirty="0"/>
              <a:t>Excellence</a:t>
            </a:r>
            <a:r>
              <a:rPr spc="-3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spc="-10" dirty="0"/>
              <a:t>Service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33479" y="1371748"/>
            <a:ext cx="7431325" cy="695584"/>
          </a:xfrm>
          <a:prstGeom prst="rect">
            <a:avLst/>
          </a:prstGeom>
        </p:spPr>
        <p:txBody>
          <a:bodyPr vert="horz" wrap="square" lIns="0" tIns="29261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600" spc="-10" dirty="0"/>
              <a:t>REFERENCES</a:t>
            </a:r>
            <a:endParaRPr sz="2600" spc="-10" dirty="0"/>
          </a:p>
        </p:txBody>
      </p:sp>
      <p:sp>
        <p:nvSpPr>
          <p:cNvPr id="8" name="TextBox 7"/>
          <p:cNvSpPr txBox="1"/>
          <p:nvPr/>
        </p:nvSpPr>
        <p:spPr>
          <a:xfrm>
            <a:off x="457200" y="2438400"/>
            <a:ext cx="8382000" cy="4799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en-US" sz="1800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Artificial Intelligence (AI) for Brain Tumor Detection: Automating MRI Image Analysis for Enhanced Accuracy</a:t>
            </a:r>
          </a:p>
          <a:p>
            <a:pPr marL="285750" indent="-285750">
              <a:buFont typeface="Arial" panose="020B0604020202090204" pitchFamily="34" charset="0"/>
              <a:buChar char="•"/>
            </a:pPr>
            <a:endParaRPr lang="en-US" altLang="en-US" sz="1800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en-US" sz="1800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Artificial Intelligence (AI): Brain Tumor Detection</a:t>
            </a:r>
          </a:p>
          <a:p>
            <a:pPr marL="285750" indent="-285750">
              <a:buFont typeface="Arial" panose="020B0604020202090204" pitchFamily="34" charset="0"/>
              <a:buChar char="•"/>
            </a:pPr>
            <a:endParaRPr lang="en-US" altLang="en-US" sz="1800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en-US" sz="1800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An Improved AI Inspired Brain Tumor Detection</a:t>
            </a:r>
          </a:p>
          <a:p>
            <a:pPr marL="285750" indent="-285750">
              <a:buFont typeface="Arial" panose="020B0604020202090204" pitchFamily="34" charset="0"/>
              <a:buChar char="•"/>
            </a:pPr>
            <a:endParaRPr lang="en-US" altLang="en-US" sz="1800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sz="1800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en-US" sz="1800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Optimizing MRI-based brain tumor classification and detection using AI</a:t>
            </a:r>
          </a:p>
          <a:p>
            <a:pPr marL="285750" indent="-285750">
              <a:buFont typeface="Arial" panose="020B0604020202090204" pitchFamily="34" charset="0"/>
              <a:buChar char="•"/>
            </a:pPr>
            <a:endParaRPr lang="en-US" altLang="en-US" sz="1800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en-US" sz="1800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Brain Tumor Identification and Classification Using Enhanced Convolution Neural Network</a:t>
            </a:r>
          </a:p>
          <a:p>
            <a:pPr marL="285750" indent="-285750">
              <a:buFont typeface="Arial" panose="020B0604020202090204" pitchFamily="34" charset="0"/>
              <a:buChar char="•"/>
            </a:pPr>
            <a:endParaRPr lang="en-US" altLang="en-US" sz="1800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endParaRPr lang="en-US" altLang="en-US" sz="1800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endParaRPr lang="en-US" altLang="en-US" sz="1800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endParaRPr lang="en-US" altLang="en-US" sz="1800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endParaRPr lang="en-US" altLang="en-US" sz="1800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endParaRPr lang="en-US" altLang="en-US" sz="1800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2C579A-85EE-0F8E-F111-FB5D8126C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1042" y="1371600"/>
            <a:ext cx="5161915" cy="430887"/>
          </a:xfrm>
        </p:spPr>
        <p:txBody>
          <a:bodyPr/>
          <a:lstStyle/>
          <a:p>
            <a:pPr algn="ctr"/>
            <a:r>
              <a:rPr lang="en-IN" dirty="0"/>
              <a:t>Phase 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280B3C-85CE-4493-3F81-E7E31587BCCF}"/>
              </a:ext>
            </a:extLst>
          </p:cNvPr>
          <p:cNvSpPr txBox="1"/>
          <p:nvPr/>
        </p:nvSpPr>
        <p:spPr>
          <a:xfrm>
            <a:off x="1371599" y="2362200"/>
            <a:ext cx="640080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Details</a:t>
            </a:r>
          </a:p>
        </p:txBody>
      </p:sp>
    </p:spTree>
    <p:extLst>
      <p:ext uri="{BB962C8B-B14F-4D97-AF65-F5344CB8AC3E}">
        <p14:creationId xmlns:p14="http://schemas.microsoft.com/office/powerpoint/2010/main" val="34658362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76219-EF74-D968-830F-4439B7492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723" y="652167"/>
            <a:ext cx="5161915" cy="430887"/>
          </a:xfrm>
        </p:spPr>
        <p:txBody>
          <a:bodyPr/>
          <a:lstStyle/>
          <a:p>
            <a:r>
              <a:rPr lang="en-IN" dirty="0"/>
              <a:t>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5FD03F-B181-339E-4FD0-C3CD44378464}"/>
              </a:ext>
            </a:extLst>
          </p:cNvPr>
          <p:cNvSpPr txBox="1"/>
          <p:nvPr/>
        </p:nvSpPr>
        <p:spPr>
          <a:xfrm>
            <a:off x="533400" y="1752600"/>
            <a:ext cx="74676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Phase 2 of the NeuroCure project builds upon the successful completion of Phase 1, where a functional and optimized brain tumor classification system was developed.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phase focuses on enhancing explainability, improving diagnostic accuracy, and optimizing system performance for deployment on low-end and CPU-only systems.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goal is to move closer to a clinically deployable, efficient, and trustworthy AI-based diagnostic tool.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501530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E584F-2EF2-D64F-13C2-BD0E29D3A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723" y="652167"/>
            <a:ext cx="5161915" cy="430887"/>
          </a:xfrm>
        </p:spPr>
        <p:txBody>
          <a:bodyPr/>
          <a:lstStyle/>
          <a:p>
            <a:r>
              <a:rPr lang="en-IN" dirty="0"/>
              <a:t>OBJECTIVES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1DB50F-3BFD-9FB5-787E-B33EA82ED3A7}"/>
              </a:ext>
            </a:extLst>
          </p:cNvPr>
          <p:cNvSpPr txBox="1"/>
          <p:nvPr/>
        </p:nvSpPr>
        <p:spPr>
          <a:xfrm>
            <a:off x="609600" y="1752600"/>
            <a:ext cx="73914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primary objectives of Phase 2 are as follows: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integrate explainable AI techniques such as Grad-CAM to visually interpret model predictions.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improve the overall accuracy and robustness of the brain tumor classification model.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optimize the system for low-end hardware and CPU-only environments.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reduce inference latency and enable faster prediction times for real-time usage.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enhance the system’s usability and reliability in practical clinical settings.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244163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18D9C-84CD-4B25-48D4-ACA3BC416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723" y="652167"/>
            <a:ext cx="5161915" cy="430887"/>
          </a:xfrm>
        </p:spPr>
        <p:txBody>
          <a:bodyPr/>
          <a:lstStyle/>
          <a:p>
            <a:r>
              <a:rPr lang="en-IN" dirty="0"/>
              <a:t>GRAD-CAM ENABLEMENT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B4D324-AE4B-566D-2C14-3571AAE0E547}"/>
              </a:ext>
            </a:extLst>
          </p:cNvPr>
          <p:cNvSpPr txBox="1"/>
          <p:nvPr/>
        </p:nvSpPr>
        <p:spPr>
          <a:xfrm>
            <a:off x="533400" y="1676400"/>
            <a:ext cx="77724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enhance transparency and trust in the AI system, Phase 2 introduces the integration of Gradient-weighted Class Activation Mapping (Grad-CAM). Grad-CAM generates visual heatmaps that highlight the regions of MRI scans influencing the model’s predictions.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enables medical professionals to better understand and validate AI-driven decisions, thereby bridging the gap between deep learning outputs and clinical interpretation.</a:t>
            </a:r>
            <a:endParaRPr lang="en-IN" dirty="0"/>
          </a:p>
        </p:txBody>
      </p:sp>
      <p:pic>
        <p:nvPicPr>
          <p:cNvPr id="1026" name="Picture 2" descr="GradCAM: Enhancing Neural Network Interpretability">
            <a:extLst>
              <a:ext uri="{FF2B5EF4-FFF2-40B4-BE49-F238E27FC236}">
                <a16:creationId xmlns:a16="http://schemas.microsoft.com/office/drawing/2014/main" id="{1F830440-8307-161B-4744-C68A06C30D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4746" y="4120058"/>
            <a:ext cx="2029708" cy="2123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88326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60BE6-C001-BBC1-FAA7-5CF149131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723" y="652167"/>
            <a:ext cx="5711277" cy="861774"/>
          </a:xfrm>
        </p:spPr>
        <p:txBody>
          <a:bodyPr/>
          <a:lstStyle/>
          <a:p>
            <a:r>
              <a:rPr lang="en-IN" dirty="0"/>
              <a:t>ACCURACY &amp; OPTIMIZATION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63FD54-7B6C-990D-EBF1-936E3B1E38C9}"/>
              </a:ext>
            </a:extLst>
          </p:cNvPr>
          <p:cNvSpPr txBox="1"/>
          <p:nvPr/>
        </p:nvSpPr>
        <p:spPr>
          <a:xfrm>
            <a:off x="533400" y="1600200"/>
            <a:ext cx="8001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Phase 2 emphasizes improving diagnostic accuracy without increasing computational complexity. This includes fine-tuning the </a:t>
            </a:r>
            <a:r>
              <a:rPr lang="en-US" dirty="0" err="1"/>
              <a:t>EfficientNet</a:t>
            </a:r>
            <a:r>
              <a:rPr lang="en-US" dirty="0"/>
              <a:t> backbone using improved data augmentation techniques, class balancing strategies, and hyperparameter optimization. Additional evaluation metrics such as precision, recall, F1-score, and confusion matrices will be used to ensure consistent and reliable performance across all tumor classes.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ensure broader accessibility, the system will be optimized to function efficiently on low-end hardware and CPU-only systems. Techniques such as post-training quantization (INT8 and FP16), ONNX Runtime CPU optimizations, and memory footprint reduction will be employed. These optimizations allow deployment in resource-constrained environments such as small clinics and diagnostic centers without dedicated GPUs.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89111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0C8F5-60C0-A988-71B6-227B97435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723" y="652167"/>
            <a:ext cx="5161915" cy="430887"/>
          </a:xfrm>
        </p:spPr>
        <p:txBody>
          <a:bodyPr/>
          <a:lstStyle/>
          <a:p>
            <a:r>
              <a:rPr lang="en-IN" dirty="0"/>
              <a:t>TIMELINE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BC6900A-1E41-A4EF-A0CB-53DBC2F9F5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6534458"/>
              </p:ext>
            </p:extLst>
          </p:nvPr>
        </p:nvGraphicFramePr>
        <p:xfrm>
          <a:off x="1314646" y="1371601"/>
          <a:ext cx="6533954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60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279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8652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Tasks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06162">
                <a:tc>
                  <a:txBody>
                    <a:bodyPr/>
                    <a:lstStyle/>
                    <a:p>
                      <a:r>
                        <a:rPr lang="en-US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January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and implementation of Grad-CAM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 improvement experiments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 refinement and validation</a:t>
                      </a:r>
                    </a:p>
                    <a:p>
                      <a:endParaRPr lang="en-US" sz="1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06162">
                <a:tc>
                  <a:txBody>
                    <a:bodyPr/>
                    <a:lstStyle/>
                    <a:p>
                      <a:r>
                        <a:rPr lang="en-US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February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quantization and CPU optimization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ONNX Runtime benchmarking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 evaluation on low-end systems</a:t>
                      </a:r>
                    </a:p>
                    <a:p>
                      <a:pPr marL="342900" indent="-342900">
                        <a:buFont typeface="Arial" panose="020B0604020202090204" pitchFamily="34" charset="0"/>
                        <a:buChar char="•"/>
                      </a:pPr>
                      <a:endParaRPr lang="en-US" sz="1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3845">
                <a:tc>
                  <a:txBody>
                    <a:bodyPr/>
                    <a:lstStyle/>
                    <a:p>
                      <a:r>
                        <a:rPr lang="en-US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Final system integration , UI enhancements for Grad-CAM visualization ,Testing, documentation, and final evaluation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36374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721" y="2590800"/>
            <a:ext cx="7762558" cy="1046440"/>
          </a:xfrm>
        </p:spPr>
        <p:txBody>
          <a:bodyPr/>
          <a:lstStyle/>
          <a:p>
            <a:pPr algn="ctr"/>
            <a:r>
              <a:rPr lang="en-IN" sz="6800" dirty="0">
                <a:solidFill>
                  <a:schemeClr val="tx2"/>
                </a:solidFill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471</TotalTime>
  <Words>2127</Words>
  <Application>Microsoft Office PowerPoint</Application>
  <PresentationFormat>On-screen Show (4:3)</PresentationFormat>
  <Paragraphs>298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Arial</vt:lpstr>
      <vt:lpstr>Book Antiqua</vt:lpstr>
      <vt:lpstr>Calibri</vt:lpstr>
      <vt:lpstr>Courier New</vt:lpstr>
      <vt:lpstr>Georgia</vt:lpstr>
      <vt:lpstr>Times New Roman</vt:lpstr>
      <vt:lpstr>Times New Roman Bold</vt:lpstr>
      <vt:lpstr>Office Theme</vt:lpstr>
      <vt:lpstr>NeuroCure  (Brain Tumor Detection Software)</vt:lpstr>
      <vt:lpstr>ABSTRACT</vt:lpstr>
      <vt:lpstr>PROBLEM STATEMENT</vt:lpstr>
      <vt:lpstr>OBJECTIVE</vt:lpstr>
      <vt:lpstr>BACKGROUND STUDY</vt:lpstr>
      <vt:lpstr>PowerPoint Presentation</vt:lpstr>
      <vt:lpstr>PowerPoint Presentation</vt:lpstr>
      <vt:lpstr>PowerPoint Presentation</vt:lpstr>
      <vt:lpstr>PowerPoint Presentation</vt:lpstr>
      <vt:lpstr>METHODOLOGY </vt:lpstr>
      <vt:lpstr>METHODOLOGY </vt:lpstr>
      <vt:lpstr>METHODOLOGY </vt:lpstr>
      <vt:lpstr>TECHNOLOGY AND TOOLS</vt:lpstr>
      <vt:lpstr>PROJECT TIMELINE </vt:lpstr>
      <vt:lpstr>CONCLUSION</vt:lpstr>
      <vt:lpstr>REFERENCES</vt:lpstr>
      <vt:lpstr>Phase 2</vt:lpstr>
      <vt:lpstr>OVERVIEW</vt:lpstr>
      <vt:lpstr>OBJECTIVES</vt:lpstr>
      <vt:lpstr>GRAD-CAM ENABLEMENT</vt:lpstr>
      <vt:lpstr>ACCURACY &amp; OPTIMIZATION</vt:lpstr>
      <vt:lpstr>TIMELINE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Sethu</dc:creator>
  <cp:lastModifiedBy>Ryan Netto</cp:lastModifiedBy>
  <cp:revision>38</cp:revision>
  <dcterms:created xsi:type="dcterms:W3CDTF">2025-07-16T10:00:27Z</dcterms:created>
  <dcterms:modified xsi:type="dcterms:W3CDTF">2025-12-17T06:00:46Z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2025-03-06T05:30:00Z</vt:filetime>
  </property>
  <property fmtid="{D5CDD505-2E9C-101B-9397-08002B2CF9AE}" pid="3" name="Creator">
    <vt:lpwstr>Google</vt:lpwstr>
  </property>
  <property fmtid="{D5CDD505-2E9C-101B-9397-08002B2CF9AE}" pid="4" name="LastSaved">
    <vt:filetime>2025-03-06T05:30:00Z</vt:filetime>
  </property>
  <property fmtid="{D5CDD505-2E9C-101B-9397-08002B2CF9AE}" pid="5" name="ICV">
    <vt:lpwstr>4C3AE14586B0ED630D707768E89F89C7_43</vt:lpwstr>
  </property>
  <property fmtid="{D5CDD505-2E9C-101B-9397-08002B2CF9AE}" pid="6" name="KSOProductBuildVer">
    <vt:lpwstr>1033-6.15.0.8733</vt:lpwstr>
  </property>
</Properties>
</file>