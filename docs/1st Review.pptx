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97" r:id="rId4"/>
    <p:sldId id="302" r:id="rId5"/>
    <p:sldId id="306" r:id="rId6"/>
    <p:sldId id="303" r:id="rId7"/>
    <p:sldId id="307" r:id="rId8"/>
    <p:sldId id="304" r:id="rId9"/>
    <p:sldId id="278" r:id="rId10"/>
    <p:sldId id="295" r:id="rId11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78" d="100"/>
          <a:sy n="78" d="100"/>
        </p:scale>
        <p:origin x="1594" y="62"/>
      </p:cViewPr>
      <p:guideLst>
        <p:guide orient="horz" pos="2880"/>
        <p:guide pos="21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84723" y="652167"/>
            <a:ext cx="2435860" cy="4521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Georgia" panose="02040502050405020303"/>
                <a:cs typeface="Georgia" panose="02040502050405020303"/>
              </a:defRPr>
            </a:lvl1pPr>
          </a:lstStyle>
          <a:p>
            <a:pPr marL="12700">
              <a:lnSpc>
                <a:spcPts val="1665"/>
              </a:lnSpc>
            </a:pPr>
            <a:r>
              <a:rPr dirty="0"/>
              <a:t>Excellence</a:t>
            </a:r>
            <a:r>
              <a:rPr spc="-35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spc="-10" dirty="0"/>
              <a:t>Service</a:t>
            </a:r>
            <a:endParaRPr spc="-1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Georgia" panose="02040502050405020303"/>
                <a:cs typeface="Georgia" panose="02040502050405020303"/>
              </a:defRPr>
            </a:lvl1pPr>
          </a:lstStyle>
          <a:p>
            <a:pPr marL="12700">
              <a:lnSpc>
                <a:spcPts val="1665"/>
              </a:lnSpc>
            </a:pPr>
            <a:r>
              <a:rPr dirty="0"/>
              <a:t>Excellence</a:t>
            </a:r>
            <a:r>
              <a:rPr spc="-35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spc="-10" dirty="0"/>
              <a:t>Service</a:t>
            </a:r>
            <a:endParaRPr spc="-1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Georgia" panose="02040502050405020303"/>
                <a:cs typeface="Georgia" panose="02040502050405020303"/>
              </a:defRPr>
            </a:lvl1pPr>
          </a:lstStyle>
          <a:p>
            <a:pPr marL="12700">
              <a:lnSpc>
                <a:spcPts val="1665"/>
              </a:lnSpc>
            </a:pPr>
            <a:r>
              <a:rPr dirty="0"/>
              <a:t>Excellence</a:t>
            </a:r>
            <a:r>
              <a:rPr spc="-35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spc="-10" dirty="0"/>
              <a:t>Service</a:t>
            </a:r>
            <a:endParaRPr spc="-10"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Georgia" panose="02040502050405020303"/>
                <a:cs typeface="Georgia" panose="02040502050405020303"/>
              </a:defRPr>
            </a:lvl1pPr>
          </a:lstStyle>
          <a:p>
            <a:pPr marL="12700">
              <a:lnSpc>
                <a:spcPts val="1665"/>
              </a:lnSpc>
            </a:pPr>
            <a:r>
              <a:rPr dirty="0"/>
              <a:t>Excellence</a:t>
            </a:r>
            <a:r>
              <a:rPr spc="-35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spc="-10" dirty="0"/>
              <a:t>Service</a:t>
            </a:r>
            <a:endParaRPr spc="-10"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Georgia" panose="02040502050405020303"/>
                <a:cs typeface="Georgia" panose="02040502050405020303"/>
              </a:defRPr>
            </a:lvl1pPr>
          </a:lstStyle>
          <a:p>
            <a:pPr marL="12700">
              <a:lnSpc>
                <a:spcPts val="1665"/>
              </a:lnSpc>
            </a:pPr>
            <a:r>
              <a:rPr dirty="0"/>
              <a:t>Excellence</a:t>
            </a:r>
            <a:r>
              <a:rPr spc="-35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spc="-10" dirty="0"/>
              <a:t>Service</a:t>
            </a:r>
            <a:endParaRPr spc="-10"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6347773"/>
            <a:ext cx="9144000" cy="510540"/>
          </a:xfrm>
          <a:custGeom>
            <a:avLst/>
            <a:gdLst/>
            <a:ahLst/>
            <a:cxnLst/>
            <a:rect l="l" t="t" r="r" b="b"/>
            <a:pathLst>
              <a:path w="9144000" h="510540">
                <a:moveTo>
                  <a:pt x="9143999" y="510301"/>
                </a:moveTo>
                <a:lnTo>
                  <a:pt x="0" y="510301"/>
                </a:lnTo>
                <a:lnTo>
                  <a:pt x="0" y="30010"/>
                </a:lnTo>
                <a:lnTo>
                  <a:pt x="7623" y="18687"/>
                </a:lnTo>
                <a:lnTo>
                  <a:pt x="27954" y="5013"/>
                </a:lnTo>
                <a:lnTo>
                  <a:pt x="52974" y="0"/>
                </a:lnTo>
                <a:lnTo>
                  <a:pt x="9080074" y="0"/>
                </a:lnTo>
                <a:lnTo>
                  <a:pt x="9105095" y="5013"/>
                </a:lnTo>
                <a:lnTo>
                  <a:pt x="9125426" y="18687"/>
                </a:lnTo>
                <a:lnTo>
                  <a:pt x="9139082" y="38970"/>
                </a:lnTo>
                <a:lnTo>
                  <a:pt x="9143999" y="63811"/>
                </a:lnTo>
                <a:lnTo>
                  <a:pt x="9143999" y="510301"/>
                </a:lnTo>
                <a:close/>
              </a:path>
            </a:pathLst>
          </a:custGeom>
          <a:solidFill>
            <a:srgbClr val="0B539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0" y="6347773"/>
            <a:ext cx="9144635" cy="510540"/>
          </a:xfrm>
          <a:custGeom>
            <a:avLst/>
            <a:gdLst/>
            <a:ahLst/>
            <a:cxnLst/>
            <a:rect l="l" t="t" r="r" b="b"/>
            <a:pathLst>
              <a:path w="9144635" h="510540">
                <a:moveTo>
                  <a:pt x="0" y="30010"/>
                </a:moveTo>
                <a:lnTo>
                  <a:pt x="7623" y="18687"/>
                </a:lnTo>
                <a:lnTo>
                  <a:pt x="27954" y="5013"/>
                </a:lnTo>
                <a:lnTo>
                  <a:pt x="52974" y="0"/>
                </a:lnTo>
                <a:lnTo>
                  <a:pt x="9080074" y="0"/>
                </a:lnTo>
                <a:lnTo>
                  <a:pt x="9125426" y="18687"/>
                </a:lnTo>
                <a:lnTo>
                  <a:pt x="9143999" y="63811"/>
                </a:lnTo>
                <a:lnTo>
                  <a:pt x="9144075" y="510226"/>
                </a:lnTo>
                <a:lnTo>
                  <a:pt x="0" y="510301"/>
                </a:lnTo>
              </a:path>
            </a:pathLst>
          </a:custGeom>
          <a:ln w="19049">
            <a:solidFill>
              <a:srgbClr val="0B539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6945800" y="274"/>
            <a:ext cx="2198370" cy="615315"/>
          </a:xfrm>
          <a:custGeom>
            <a:avLst/>
            <a:gdLst/>
            <a:ahLst/>
            <a:cxnLst/>
            <a:rect l="l" t="t" r="r" b="b"/>
            <a:pathLst>
              <a:path w="2198370" h="615315">
                <a:moveTo>
                  <a:pt x="2130260" y="614699"/>
                </a:moveTo>
                <a:lnTo>
                  <a:pt x="76839" y="614699"/>
                </a:lnTo>
                <a:lnTo>
                  <a:pt x="46944" y="608660"/>
                </a:lnTo>
                <a:lnTo>
                  <a:pt x="22518" y="592189"/>
                </a:lnTo>
                <a:lnTo>
                  <a:pt x="6043" y="567757"/>
                </a:lnTo>
                <a:lnTo>
                  <a:pt x="0" y="537834"/>
                </a:lnTo>
                <a:lnTo>
                  <a:pt x="0" y="0"/>
                </a:lnTo>
                <a:lnTo>
                  <a:pt x="2198200" y="0"/>
                </a:lnTo>
                <a:lnTo>
                  <a:pt x="2198200" y="571995"/>
                </a:lnTo>
                <a:lnTo>
                  <a:pt x="2184582" y="592189"/>
                </a:lnTo>
                <a:lnTo>
                  <a:pt x="2160157" y="608660"/>
                </a:lnTo>
                <a:lnTo>
                  <a:pt x="2130260" y="614699"/>
                </a:lnTo>
                <a:close/>
              </a:path>
            </a:pathLst>
          </a:custGeom>
          <a:solidFill>
            <a:srgbClr val="0B539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6945800" y="274"/>
            <a:ext cx="2198370" cy="615315"/>
          </a:xfrm>
          <a:custGeom>
            <a:avLst/>
            <a:gdLst/>
            <a:ahLst/>
            <a:cxnLst/>
            <a:rect l="l" t="t" r="r" b="b"/>
            <a:pathLst>
              <a:path w="2198370" h="615315">
                <a:moveTo>
                  <a:pt x="2198200" y="571995"/>
                </a:moveTo>
                <a:lnTo>
                  <a:pt x="2184582" y="592189"/>
                </a:lnTo>
                <a:lnTo>
                  <a:pt x="2160157" y="608660"/>
                </a:lnTo>
                <a:lnTo>
                  <a:pt x="2130260" y="614699"/>
                </a:lnTo>
                <a:lnTo>
                  <a:pt x="76839" y="614699"/>
                </a:lnTo>
                <a:lnTo>
                  <a:pt x="46944" y="608660"/>
                </a:lnTo>
                <a:lnTo>
                  <a:pt x="22518" y="592189"/>
                </a:lnTo>
                <a:lnTo>
                  <a:pt x="6043" y="567757"/>
                </a:lnTo>
                <a:lnTo>
                  <a:pt x="0" y="537834"/>
                </a:lnTo>
                <a:lnTo>
                  <a:pt x="0" y="0"/>
                </a:lnTo>
                <a:lnTo>
                  <a:pt x="2198200" y="0"/>
                </a:lnTo>
              </a:path>
            </a:pathLst>
          </a:custGeom>
          <a:ln w="19049">
            <a:solidFill>
              <a:srgbClr val="0B539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bg object 20"/>
          <p:cNvSpPr/>
          <p:nvPr/>
        </p:nvSpPr>
        <p:spPr>
          <a:xfrm>
            <a:off x="0" y="-27"/>
            <a:ext cx="9144000" cy="365125"/>
          </a:xfrm>
          <a:custGeom>
            <a:avLst/>
            <a:gdLst/>
            <a:ahLst/>
            <a:cxnLst/>
            <a:rect l="l" t="t" r="r" b="b"/>
            <a:pathLst>
              <a:path w="9144000" h="365125">
                <a:moveTo>
                  <a:pt x="9107125" y="364801"/>
                </a:moveTo>
                <a:lnTo>
                  <a:pt x="43574" y="364801"/>
                </a:lnTo>
                <a:lnTo>
                  <a:pt x="25693" y="361217"/>
                </a:lnTo>
                <a:lnTo>
                  <a:pt x="11150" y="351442"/>
                </a:lnTo>
                <a:lnTo>
                  <a:pt x="1375" y="336943"/>
                </a:lnTo>
                <a:lnTo>
                  <a:pt x="0" y="330114"/>
                </a:lnTo>
                <a:lnTo>
                  <a:pt x="0" y="0"/>
                </a:lnTo>
                <a:lnTo>
                  <a:pt x="9143999" y="0"/>
                </a:lnTo>
                <a:lnTo>
                  <a:pt x="9143999" y="344841"/>
                </a:lnTo>
                <a:lnTo>
                  <a:pt x="9139549" y="351442"/>
                </a:lnTo>
                <a:lnTo>
                  <a:pt x="9125006" y="361217"/>
                </a:lnTo>
                <a:lnTo>
                  <a:pt x="9107125" y="364801"/>
                </a:lnTo>
                <a:close/>
              </a:path>
            </a:pathLst>
          </a:custGeom>
          <a:solidFill>
            <a:srgbClr val="0B539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bg object 21"/>
          <p:cNvSpPr/>
          <p:nvPr/>
        </p:nvSpPr>
        <p:spPr>
          <a:xfrm>
            <a:off x="0" y="-27"/>
            <a:ext cx="9144000" cy="365125"/>
          </a:xfrm>
          <a:custGeom>
            <a:avLst/>
            <a:gdLst/>
            <a:ahLst/>
            <a:cxnLst/>
            <a:rect l="l" t="t" r="r" b="b"/>
            <a:pathLst>
              <a:path w="9144000" h="365125">
                <a:moveTo>
                  <a:pt x="0" y="0"/>
                </a:moveTo>
                <a:lnTo>
                  <a:pt x="9143999" y="0"/>
                </a:lnTo>
              </a:path>
              <a:path w="9144000" h="365125">
                <a:moveTo>
                  <a:pt x="9143999" y="344841"/>
                </a:moveTo>
                <a:lnTo>
                  <a:pt x="9139549" y="351442"/>
                </a:lnTo>
                <a:lnTo>
                  <a:pt x="9125006" y="361217"/>
                </a:lnTo>
                <a:lnTo>
                  <a:pt x="9107125" y="364801"/>
                </a:lnTo>
                <a:lnTo>
                  <a:pt x="43574" y="364801"/>
                </a:lnTo>
                <a:lnTo>
                  <a:pt x="25693" y="361217"/>
                </a:lnTo>
                <a:lnTo>
                  <a:pt x="11150" y="351442"/>
                </a:lnTo>
                <a:lnTo>
                  <a:pt x="1375" y="336943"/>
                </a:lnTo>
                <a:lnTo>
                  <a:pt x="0" y="330114"/>
                </a:lnTo>
              </a:path>
            </a:pathLst>
          </a:custGeom>
          <a:ln w="19049">
            <a:solidFill>
              <a:srgbClr val="0B539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4723" y="652167"/>
            <a:ext cx="5161915" cy="732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57200" y="1577340"/>
            <a:ext cx="82296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69711" y="6464304"/>
            <a:ext cx="1804670" cy="2279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Georgia" panose="02040502050405020303"/>
                <a:cs typeface="Georgia" panose="02040502050405020303"/>
              </a:defRPr>
            </a:lvl1pPr>
          </a:lstStyle>
          <a:p>
            <a:pPr marL="12700">
              <a:lnSpc>
                <a:spcPts val="1665"/>
              </a:lnSpc>
            </a:pPr>
            <a:r>
              <a:rPr dirty="0"/>
              <a:t>Excellence</a:t>
            </a:r>
            <a:r>
              <a:rPr spc="-35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spc="-10" dirty="0"/>
              <a:t>Service</a:t>
            </a:r>
            <a:endParaRPr spc="-1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9507" y="0"/>
            <a:ext cx="9163050" cy="1479550"/>
            <a:chOff x="-9507" y="0"/>
            <a:chExt cx="9163050" cy="1479550"/>
          </a:xfrm>
        </p:grpSpPr>
        <p:sp>
          <p:nvSpPr>
            <p:cNvPr id="3" name="object 3"/>
            <p:cNvSpPr/>
            <p:nvPr/>
          </p:nvSpPr>
          <p:spPr>
            <a:xfrm>
              <a:off x="17" y="67299"/>
              <a:ext cx="9144000" cy="1402715"/>
            </a:xfrm>
            <a:custGeom>
              <a:avLst/>
              <a:gdLst/>
              <a:ahLst/>
              <a:cxnLst/>
              <a:rect l="l" t="t" r="r" b="b"/>
              <a:pathLst>
                <a:path w="9144000" h="1402715">
                  <a:moveTo>
                    <a:pt x="9143983" y="0"/>
                  </a:moveTo>
                  <a:lnTo>
                    <a:pt x="0" y="0"/>
                  </a:lnTo>
                  <a:lnTo>
                    <a:pt x="0" y="1138971"/>
                  </a:lnTo>
                  <a:lnTo>
                    <a:pt x="72188" y="1139008"/>
                  </a:lnTo>
                  <a:lnTo>
                    <a:pt x="143617" y="1139116"/>
                  </a:lnTo>
                  <a:lnTo>
                    <a:pt x="214294" y="1139295"/>
                  </a:lnTo>
                  <a:lnTo>
                    <a:pt x="284228" y="1139544"/>
                  </a:lnTo>
                  <a:lnTo>
                    <a:pt x="353426" y="1139862"/>
                  </a:lnTo>
                  <a:lnTo>
                    <a:pt x="421897" y="1140248"/>
                  </a:lnTo>
                  <a:lnTo>
                    <a:pt x="489648" y="1140700"/>
                  </a:lnTo>
                  <a:lnTo>
                    <a:pt x="556689" y="1141219"/>
                  </a:lnTo>
                  <a:lnTo>
                    <a:pt x="623027" y="1141803"/>
                  </a:lnTo>
                  <a:lnTo>
                    <a:pt x="688669" y="1142451"/>
                  </a:lnTo>
                  <a:lnTo>
                    <a:pt x="753626" y="1143161"/>
                  </a:lnTo>
                  <a:lnTo>
                    <a:pt x="817903" y="1143934"/>
                  </a:lnTo>
                  <a:lnTo>
                    <a:pt x="881510" y="1144768"/>
                  </a:lnTo>
                  <a:lnTo>
                    <a:pt x="944455" y="1145661"/>
                  </a:lnTo>
                  <a:lnTo>
                    <a:pt x="1006746" y="1146614"/>
                  </a:lnTo>
                  <a:lnTo>
                    <a:pt x="1068390" y="1147625"/>
                  </a:lnTo>
                  <a:lnTo>
                    <a:pt x="1129397" y="1148693"/>
                  </a:lnTo>
                  <a:lnTo>
                    <a:pt x="1189774" y="1149816"/>
                  </a:lnTo>
                  <a:lnTo>
                    <a:pt x="1249529" y="1150995"/>
                  </a:lnTo>
                  <a:lnTo>
                    <a:pt x="1308671" y="1152228"/>
                  </a:lnTo>
                  <a:lnTo>
                    <a:pt x="1367207" y="1153514"/>
                  </a:lnTo>
                  <a:lnTo>
                    <a:pt x="1425146" y="1154852"/>
                  </a:lnTo>
                  <a:lnTo>
                    <a:pt x="1482496" y="1156242"/>
                  </a:lnTo>
                  <a:lnTo>
                    <a:pt x="1539264" y="1157681"/>
                  </a:lnTo>
                  <a:lnTo>
                    <a:pt x="1595460" y="1159169"/>
                  </a:lnTo>
                  <a:lnTo>
                    <a:pt x="1651091" y="1160706"/>
                  </a:lnTo>
                  <a:lnTo>
                    <a:pt x="1706166" y="1162290"/>
                  </a:lnTo>
                  <a:lnTo>
                    <a:pt x="1760691" y="1163919"/>
                  </a:lnTo>
                  <a:lnTo>
                    <a:pt x="1814677" y="1165594"/>
                  </a:lnTo>
                  <a:lnTo>
                    <a:pt x="1868130" y="1167314"/>
                  </a:lnTo>
                  <a:lnTo>
                    <a:pt x="1921059" y="1169076"/>
                  </a:lnTo>
                  <a:lnTo>
                    <a:pt x="1973472" y="1170880"/>
                  </a:lnTo>
                  <a:lnTo>
                    <a:pt x="2025377" y="1172726"/>
                  </a:lnTo>
                  <a:lnTo>
                    <a:pt x="2076782" y="1174612"/>
                  </a:lnTo>
                  <a:lnTo>
                    <a:pt x="2127696" y="1176537"/>
                  </a:lnTo>
                  <a:lnTo>
                    <a:pt x="2178126" y="1178501"/>
                  </a:lnTo>
                  <a:lnTo>
                    <a:pt x="2228081" y="1180501"/>
                  </a:lnTo>
                  <a:lnTo>
                    <a:pt x="2277568" y="1182538"/>
                  </a:lnTo>
                  <a:lnTo>
                    <a:pt x="2326596" y="1184610"/>
                  </a:lnTo>
                  <a:lnTo>
                    <a:pt x="2375174" y="1186716"/>
                  </a:lnTo>
                  <a:lnTo>
                    <a:pt x="2423308" y="1188856"/>
                  </a:lnTo>
                  <a:lnTo>
                    <a:pt x="2471008" y="1191028"/>
                  </a:lnTo>
                  <a:lnTo>
                    <a:pt x="2518280" y="1193231"/>
                  </a:lnTo>
                  <a:lnTo>
                    <a:pt x="2565135" y="1195465"/>
                  </a:lnTo>
                  <a:lnTo>
                    <a:pt x="2611579" y="1197727"/>
                  </a:lnTo>
                  <a:lnTo>
                    <a:pt x="2657621" y="1200018"/>
                  </a:lnTo>
                  <a:lnTo>
                    <a:pt x="2703268" y="1202337"/>
                  </a:lnTo>
                  <a:lnTo>
                    <a:pt x="2748530" y="1204682"/>
                  </a:lnTo>
                  <a:lnTo>
                    <a:pt x="2793414" y="1207052"/>
                  </a:lnTo>
                  <a:lnTo>
                    <a:pt x="2837928" y="1209446"/>
                  </a:lnTo>
                  <a:lnTo>
                    <a:pt x="2882080" y="1211864"/>
                  </a:lnTo>
                  <a:lnTo>
                    <a:pt x="2925879" y="1214304"/>
                  </a:lnTo>
                  <a:lnTo>
                    <a:pt x="2969333" y="1216766"/>
                  </a:lnTo>
                  <a:lnTo>
                    <a:pt x="3012449" y="1219248"/>
                  </a:lnTo>
                  <a:lnTo>
                    <a:pt x="3055236" y="1221749"/>
                  </a:lnTo>
                  <a:lnTo>
                    <a:pt x="3097702" y="1224269"/>
                  </a:lnTo>
                  <a:lnTo>
                    <a:pt x="3139856" y="1226806"/>
                  </a:lnTo>
                  <a:lnTo>
                    <a:pt x="3181704" y="1229360"/>
                  </a:lnTo>
                  <a:lnTo>
                    <a:pt x="3223256" y="1231929"/>
                  </a:lnTo>
                  <a:lnTo>
                    <a:pt x="3264520" y="1234513"/>
                  </a:lnTo>
                  <a:lnTo>
                    <a:pt x="3305503" y="1237110"/>
                  </a:lnTo>
                  <a:lnTo>
                    <a:pt x="3346213" y="1239719"/>
                  </a:lnTo>
                  <a:lnTo>
                    <a:pt x="3386660" y="1242340"/>
                  </a:lnTo>
                  <a:lnTo>
                    <a:pt x="3426851" y="1244972"/>
                  </a:lnTo>
                  <a:lnTo>
                    <a:pt x="3466794" y="1247613"/>
                  </a:lnTo>
                  <a:lnTo>
                    <a:pt x="3506497" y="1250262"/>
                  </a:lnTo>
                  <a:lnTo>
                    <a:pt x="3545969" y="1252919"/>
                  </a:lnTo>
                  <a:lnTo>
                    <a:pt x="3585217" y="1255583"/>
                  </a:lnTo>
                  <a:lnTo>
                    <a:pt x="3624249" y="1258252"/>
                  </a:lnTo>
                  <a:lnTo>
                    <a:pt x="3663075" y="1260925"/>
                  </a:lnTo>
                  <a:lnTo>
                    <a:pt x="3701701" y="1263602"/>
                  </a:lnTo>
                  <a:lnTo>
                    <a:pt x="3740137" y="1266282"/>
                  </a:lnTo>
                  <a:lnTo>
                    <a:pt x="3778389" y="1268964"/>
                  </a:lnTo>
                  <a:lnTo>
                    <a:pt x="3816467" y="1271645"/>
                  </a:lnTo>
                  <a:lnTo>
                    <a:pt x="3892131" y="1277007"/>
                  </a:lnTo>
                  <a:lnTo>
                    <a:pt x="3967194" y="1282359"/>
                  </a:lnTo>
                  <a:lnTo>
                    <a:pt x="4041720" y="1287694"/>
                  </a:lnTo>
                  <a:lnTo>
                    <a:pt x="4115775" y="1293003"/>
                  </a:lnTo>
                  <a:lnTo>
                    <a:pt x="4152647" y="1295645"/>
                  </a:lnTo>
                  <a:lnTo>
                    <a:pt x="4226117" y="1300902"/>
                  </a:lnTo>
                  <a:lnTo>
                    <a:pt x="4299278" y="1306113"/>
                  </a:lnTo>
                  <a:lnTo>
                    <a:pt x="4372195" y="1311271"/>
                  </a:lnTo>
                  <a:lnTo>
                    <a:pt x="4444934" y="1316368"/>
                  </a:lnTo>
                  <a:lnTo>
                    <a:pt x="4517558" y="1321396"/>
                  </a:lnTo>
                  <a:lnTo>
                    <a:pt x="4590134" y="1326347"/>
                  </a:lnTo>
                  <a:lnTo>
                    <a:pt x="4662727" y="1331213"/>
                  </a:lnTo>
                  <a:lnTo>
                    <a:pt x="4735400" y="1335986"/>
                  </a:lnTo>
                  <a:lnTo>
                    <a:pt x="4808220" y="1340659"/>
                  </a:lnTo>
                  <a:lnTo>
                    <a:pt x="4881251" y="1345224"/>
                  </a:lnTo>
                  <a:lnTo>
                    <a:pt x="4954559" y="1349671"/>
                  </a:lnTo>
                  <a:lnTo>
                    <a:pt x="5028207" y="1353995"/>
                  </a:lnTo>
                  <a:lnTo>
                    <a:pt x="5102262" y="1358186"/>
                  </a:lnTo>
                  <a:lnTo>
                    <a:pt x="5176789" y="1362236"/>
                  </a:lnTo>
                  <a:lnTo>
                    <a:pt x="5251852" y="1366139"/>
                  </a:lnTo>
                  <a:lnTo>
                    <a:pt x="5327516" y="1369885"/>
                  </a:lnTo>
                  <a:lnTo>
                    <a:pt x="5365594" y="1371697"/>
                  </a:lnTo>
                  <a:lnTo>
                    <a:pt x="5403846" y="1373468"/>
                  </a:lnTo>
                  <a:lnTo>
                    <a:pt x="5442282" y="1375195"/>
                  </a:lnTo>
                  <a:lnTo>
                    <a:pt x="5480908" y="1376878"/>
                  </a:lnTo>
                  <a:lnTo>
                    <a:pt x="5519733" y="1378516"/>
                  </a:lnTo>
                  <a:lnTo>
                    <a:pt x="5558766" y="1380108"/>
                  </a:lnTo>
                  <a:lnTo>
                    <a:pt x="5598014" y="1381654"/>
                  </a:lnTo>
                  <a:lnTo>
                    <a:pt x="5637486" y="1383151"/>
                  </a:lnTo>
                  <a:lnTo>
                    <a:pt x="5677189" y="1384600"/>
                  </a:lnTo>
                  <a:lnTo>
                    <a:pt x="5717132" y="1385998"/>
                  </a:lnTo>
                  <a:lnTo>
                    <a:pt x="5757323" y="1387346"/>
                  </a:lnTo>
                  <a:lnTo>
                    <a:pt x="5797769" y="1388641"/>
                  </a:lnTo>
                  <a:lnTo>
                    <a:pt x="5838480" y="1389884"/>
                  </a:lnTo>
                  <a:lnTo>
                    <a:pt x="5879463" y="1391073"/>
                  </a:lnTo>
                  <a:lnTo>
                    <a:pt x="5920727" y="1392207"/>
                  </a:lnTo>
                  <a:lnTo>
                    <a:pt x="5962279" y="1393285"/>
                  </a:lnTo>
                  <a:lnTo>
                    <a:pt x="6004127" y="1394306"/>
                  </a:lnTo>
                  <a:lnTo>
                    <a:pt x="6046281" y="1395270"/>
                  </a:lnTo>
                  <a:lnTo>
                    <a:pt x="6088747" y="1396175"/>
                  </a:lnTo>
                  <a:lnTo>
                    <a:pt x="6131534" y="1397019"/>
                  </a:lnTo>
                  <a:lnTo>
                    <a:pt x="6174650" y="1397803"/>
                  </a:lnTo>
                  <a:lnTo>
                    <a:pt x="6218104" y="1398525"/>
                  </a:lnTo>
                  <a:lnTo>
                    <a:pt x="6261903" y="1399185"/>
                  </a:lnTo>
                  <a:lnTo>
                    <a:pt x="6306055" y="1399780"/>
                  </a:lnTo>
                  <a:lnTo>
                    <a:pt x="6350569" y="1400311"/>
                  </a:lnTo>
                  <a:lnTo>
                    <a:pt x="6395453" y="1400776"/>
                  </a:lnTo>
                  <a:lnTo>
                    <a:pt x="6440714" y="1401174"/>
                  </a:lnTo>
                  <a:lnTo>
                    <a:pt x="6486362" y="1401505"/>
                  </a:lnTo>
                  <a:lnTo>
                    <a:pt x="6532404" y="1401767"/>
                  </a:lnTo>
                  <a:lnTo>
                    <a:pt x="6578848" y="1401959"/>
                  </a:lnTo>
                  <a:lnTo>
                    <a:pt x="6625702" y="1402080"/>
                  </a:lnTo>
                  <a:lnTo>
                    <a:pt x="6672975" y="1402129"/>
                  </a:lnTo>
                  <a:lnTo>
                    <a:pt x="6720675" y="1402106"/>
                  </a:lnTo>
                  <a:lnTo>
                    <a:pt x="6768809" y="1402009"/>
                  </a:lnTo>
                  <a:lnTo>
                    <a:pt x="6817387" y="1401838"/>
                  </a:lnTo>
                  <a:lnTo>
                    <a:pt x="6866415" y="1401591"/>
                  </a:lnTo>
                  <a:lnTo>
                    <a:pt x="6915902" y="1401267"/>
                  </a:lnTo>
                  <a:lnTo>
                    <a:pt x="6965857" y="1400865"/>
                  </a:lnTo>
                  <a:lnTo>
                    <a:pt x="7016287" y="1400385"/>
                  </a:lnTo>
                  <a:lnTo>
                    <a:pt x="7067201" y="1399825"/>
                  </a:lnTo>
                  <a:lnTo>
                    <a:pt x="7118606" y="1399185"/>
                  </a:lnTo>
                  <a:lnTo>
                    <a:pt x="7170511" y="1398463"/>
                  </a:lnTo>
                  <a:lnTo>
                    <a:pt x="7222924" y="1397658"/>
                  </a:lnTo>
                  <a:lnTo>
                    <a:pt x="7275853" y="1396770"/>
                  </a:lnTo>
                  <a:lnTo>
                    <a:pt x="7329306" y="1395797"/>
                  </a:lnTo>
                  <a:lnTo>
                    <a:pt x="7383291" y="1394739"/>
                  </a:lnTo>
                  <a:lnTo>
                    <a:pt x="7437817" y="1393594"/>
                  </a:lnTo>
                  <a:lnTo>
                    <a:pt x="7492892" y="1392361"/>
                  </a:lnTo>
                  <a:lnTo>
                    <a:pt x="7548523" y="1391040"/>
                  </a:lnTo>
                  <a:lnTo>
                    <a:pt x="7604718" y="1389629"/>
                  </a:lnTo>
                  <a:lnTo>
                    <a:pt x="7661487" y="1388128"/>
                  </a:lnTo>
                  <a:lnTo>
                    <a:pt x="7718837" y="1386536"/>
                  </a:lnTo>
                  <a:lnTo>
                    <a:pt x="7776776" y="1384850"/>
                  </a:lnTo>
                  <a:lnTo>
                    <a:pt x="7835312" y="1383072"/>
                  </a:lnTo>
                  <a:lnTo>
                    <a:pt x="7894454" y="1381198"/>
                  </a:lnTo>
                  <a:lnTo>
                    <a:pt x="7954209" y="1379230"/>
                  </a:lnTo>
                  <a:lnTo>
                    <a:pt x="8014586" y="1377165"/>
                  </a:lnTo>
                  <a:lnTo>
                    <a:pt x="8075592" y="1375002"/>
                  </a:lnTo>
                  <a:lnTo>
                    <a:pt x="8137237" y="1372741"/>
                  </a:lnTo>
                  <a:lnTo>
                    <a:pt x="8199528" y="1370380"/>
                  </a:lnTo>
                  <a:lnTo>
                    <a:pt x="8262473" y="1367919"/>
                  </a:lnTo>
                  <a:lnTo>
                    <a:pt x="8326080" y="1365357"/>
                  </a:lnTo>
                  <a:lnTo>
                    <a:pt x="8390357" y="1362692"/>
                  </a:lnTo>
                  <a:lnTo>
                    <a:pt x="8455313" y="1359924"/>
                  </a:lnTo>
                  <a:lnTo>
                    <a:pt x="8520956" y="1357051"/>
                  </a:lnTo>
                  <a:lnTo>
                    <a:pt x="8587294" y="1354073"/>
                  </a:lnTo>
                  <a:lnTo>
                    <a:pt x="8654334" y="1350989"/>
                  </a:lnTo>
                  <a:lnTo>
                    <a:pt x="8722086" y="1347797"/>
                  </a:lnTo>
                  <a:lnTo>
                    <a:pt x="8790557" y="1344497"/>
                  </a:lnTo>
                  <a:lnTo>
                    <a:pt x="8859755" y="1341087"/>
                  </a:lnTo>
                  <a:lnTo>
                    <a:pt x="8929689" y="1337568"/>
                  </a:lnTo>
                  <a:lnTo>
                    <a:pt x="9000366" y="1333936"/>
                  </a:lnTo>
                  <a:lnTo>
                    <a:pt x="9071795" y="1330193"/>
                  </a:lnTo>
                  <a:lnTo>
                    <a:pt x="9143983" y="1326336"/>
                  </a:lnTo>
                  <a:lnTo>
                    <a:pt x="9143983" y="0"/>
                  </a:lnTo>
                  <a:close/>
                </a:path>
              </a:pathLst>
            </a:custGeom>
            <a:ln w="19049">
              <a:solidFill>
                <a:srgbClr val="0B539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17" y="0"/>
              <a:ext cx="9144000" cy="1402715"/>
            </a:xfrm>
            <a:custGeom>
              <a:avLst/>
              <a:gdLst/>
              <a:ahLst/>
              <a:cxnLst/>
              <a:rect l="l" t="t" r="r" b="b"/>
              <a:pathLst>
                <a:path w="9144000" h="1402715">
                  <a:moveTo>
                    <a:pt x="6672975" y="1402129"/>
                  </a:moveTo>
                  <a:lnTo>
                    <a:pt x="6625702" y="1402080"/>
                  </a:lnTo>
                  <a:lnTo>
                    <a:pt x="6578848" y="1401959"/>
                  </a:lnTo>
                  <a:lnTo>
                    <a:pt x="6532404" y="1401767"/>
                  </a:lnTo>
                  <a:lnTo>
                    <a:pt x="6486362" y="1401505"/>
                  </a:lnTo>
                  <a:lnTo>
                    <a:pt x="6440714" y="1401174"/>
                  </a:lnTo>
                  <a:lnTo>
                    <a:pt x="6395453" y="1400776"/>
                  </a:lnTo>
                  <a:lnTo>
                    <a:pt x="6350569" y="1400311"/>
                  </a:lnTo>
                  <a:lnTo>
                    <a:pt x="6306055" y="1399780"/>
                  </a:lnTo>
                  <a:lnTo>
                    <a:pt x="6261903" y="1399185"/>
                  </a:lnTo>
                  <a:lnTo>
                    <a:pt x="6218104" y="1398525"/>
                  </a:lnTo>
                  <a:lnTo>
                    <a:pt x="6174650" y="1397803"/>
                  </a:lnTo>
                  <a:lnTo>
                    <a:pt x="6131534" y="1397019"/>
                  </a:lnTo>
                  <a:lnTo>
                    <a:pt x="6088747" y="1396174"/>
                  </a:lnTo>
                  <a:lnTo>
                    <a:pt x="6046281" y="1395270"/>
                  </a:lnTo>
                  <a:lnTo>
                    <a:pt x="6004127" y="1394306"/>
                  </a:lnTo>
                  <a:lnTo>
                    <a:pt x="5962279" y="1393285"/>
                  </a:lnTo>
                  <a:lnTo>
                    <a:pt x="5920727" y="1392207"/>
                  </a:lnTo>
                  <a:lnTo>
                    <a:pt x="5879463" y="1391073"/>
                  </a:lnTo>
                  <a:lnTo>
                    <a:pt x="5838480" y="1389884"/>
                  </a:lnTo>
                  <a:lnTo>
                    <a:pt x="5797769" y="1388641"/>
                  </a:lnTo>
                  <a:lnTo>
                    <a:pt x="5757323" y="1387346"/>
                  </a:lnTo>
                  <a:lnTo>
                    <a:pt x="5717132" y="1385998"/>
                  </a:lnTo>
                  <a:lnTo>
                    <a:pt x="5677189" y="1384600"/>
                  </a:lnTo>
                  <a:lnTo>
                    <a:pt x="5637486" y="1383151"/>
                  </a:lnTo>
                  <a:lnTo>
                    <a:pt x="5598014" y="1381654"/>
                  </a:lnTo>
                  <a:lnTo>
                    <a:pt x="5558766" y="1380108"/>
                  </a:lnTo>
                  <a:lnTo>
                    <a:pt x="5519733" y="1378516"/>
                  </a:lnTo>
                  <a:lnTo>
                    <a:pt x="5480908" y="1376878"/>
                  </a:lnTo>
                  <a:lnTo>
                    <a:pt x="5442282" y="1375195"/>
                  </a:lnTo>
                  <a:lnTo>
                    <a:pt x="5403846" y="1373468"/>
                  </a:lnTo>
                  <a:lnTo>
                    <a:pt x="5365594" y="1371697"/>
                  </a:lnTo>
                  <a:lnTo>
                    <a:pt x="5327516" y="1369885"/>
                  </a:lnTo>
                  <a:lnTo>
                    <a:pt x="5251852" y="1366139"/>
                  </a:lnTo>
                  <a:lnTo>
                    <a:pt x="5176789" y="1362236"/>
                  </a:lnTo>
                  <a:lnTo>
                    <a:pt x="5102262" y="1358186"/>
                  </a:lnTo>
                  <a:lnTo>
                    <a:pt x="5028207" y="1353995"/>
                  </a:lnTo>
                  <a:lnTo>
                    <a:pt x="4954559" y="1349671"/>
                  </a:lnTo>
                  <a:lnTo>
                    <a:pt x="4881251" y="1345224"/>
                  </a:lnTo>
                  <a:lnTo>
                    <a:pt x="4808220" y="1340659"/>
                  </a:lnTo>
                  <a:lnTo>
                    <a:pt x="4735400" y="1335986"/>
                  </a:lnTo>
                  <a:lnTo>
                    <a:pt x="4662727" y="1331213"/>
                  </a:lnTo>
                  <a:lnTo>
                    <a:pt x="4590134" y="1326347"/>
                  </a:lnTo>
                  <a:lnTo>
                    <a:pt x="4517558" y="1321396"/>
                  </a:lnTo>
                  <a:lnTo>
                    <a:pt x="4444934" y="1316368"/>
                  </a:lnTo>
                  <a:lnTo>
                    <a:pt x="4372195" y="1311271"/>
                  </a:lnTo>
                  <a:lnTo>
                    <a:pt x="4299278" y="1306113"/>
                  </a:lnTo>
                  <a:lnTo>
                    <a:pt x="4226117" y="1300902"/>
                  </a:lnTo>
                  <a:lnTo>
                    <a:pt x="4152647" y="1295645"/>
                  </a:lnTo>
                  <a:lnTo>
                    <a:pt x="4078803" y="1290352"/>
                  </a:lnTo>
                  <a:lnTo>
                    <a:pt x="4041720" y="1287694"/>
                  </a:lnTo>
                  <a:lnTo>
                    <a:pt x="3967194" y="1282359"/>
                  </a:lnTo>
                  <a:lnTo>
                    <a:pt x="3892131" y="1277007"/>
                  </a:lnTo>
                  <a:lnTo>
                    <a:pt x="3816467" y="1271645"/>
                  </a:lnTo>
                  <a:lnTo>
                    <a:pt x="3778389" y="1268963"/>
                  </a:lnTo>
                  <a:lnTo>
                    <a:pt x="3740137" y="1266282"/>
                  </a:lnTo>
                  <a:lnTo>
                    <a:pt x="3701701" y="1263602"/>
                  </a:lnTo>
                  <a:lnTo>
                    <a:pt x="3663075" y="1260925"/>
                  </a:lnTo>
                  <a:lnTo>
                    <a:pt x="3624249" y="1258252"/>
                  </a:lnTo>
                  <a:lnTo>
                    <a:pt x="3585217" y="1255583"/>
                  </a:lnTo>
                  <a:lnTo>
                    <a:pt x="3545969" y="1252919"/>
                  </a:lnTo>
                  <a:lnTo>
                    <a:pt x="3506497" y="1250262"/>
                  </a:lnTo>
                  <a:lnTo>
                    <a:pt x="3466794" y="1247613"/>
                  </a:lnTo>
                  <a:lnTo>
                    <a:pt x="3426851" y="1244972"/>
                  </a:lnTo>
                  <a:lnTo>
                    <a:pt x="3386660" y="1242340"/>
                  </a:lnTo>
                  <a:lnTo>
                    <a:pt x="3346213" y="1239719"/>
                  </a:lnTo>
                  <a:lnTo>
                    <a:pt x="3305503" y="1237110"/>
                  </a:lnTo>
                  <a:lnTo>
                    <a:pt x="3264520" y="1234513"/>
                  </a:lnTo>
                  <a:lnTo>
                    <a:pt x="3223256" y="1231929"/>
                  </a:lnTo>
                  <a:lnTo>
                    <a:pt x="3181704" y="1229360"/>
                  </a:lnTo>
                  <a:lnTo>
                    <a:pt x="3139856" y="1226806"/>
                  </a:lnTo>
                  <a:lnTo>
                    <a:pt x="3097702" y="1224269"/>
                  </a:lnTo>
                  <a:lnTo>
                    <a:pt x="3055236" y="1221749"/>
                  </a:lnTo>
                  <a:lnTo>
                    <a:pt x="3012449" y="1219248"/>
                  </a:lnTo>
                  <a:lnTo>
                    <a:pt x="2969333" y="1216766"/>
                  </a:lnTo>
                  <a:lnTo>
                    <a:pt x="2925879" y="1214304"/>
                  </a:lnTo>
                  <a:lnTo>
                    <a:pt x="2882080" y="1211864"/>
                  </a:lnTo>
                  <a:lnTo>
                    <a:pt x="2837928" y="1209446"/>
                  </a:lnTo>
                  <a:lnTo>
                    <a:pt x="2793414" y="1207052"/>
                  </a:lnTo>
                  <a:lnTo>
                    <a:pt x="2748530" y="1204682"/>
                  </a:lnTo>
                  <a:lnTo>
                    <a:pt x="2703268" y="1202337"/>
                  </a:lnTo>
                  <a:lnTo>
                    <a:pt x="2657621" y="1200018"/>
                  </a:lnTo>
                  <a:lnTo>
                    <a:pt x="2611579" y="1197727"/>
                  </a:lnTo>
                  <a:lnTo>
                    <a:pt x="2565135" y="1195465"/>
                  </a:lnTo>
                  <a:lnTo>
                    <a:pt x="2518280" y="1193231"/>
                  </a:lnTo>
                  <a:lnTo>
                    <a:pt x="2471008" y="1191028"/>
                  </a:lnTo>
                  <a:lnTo>
                    <a:pt x="2423308" y="1188856"/>
                  </a:lnTo>
                  <a:lnTo>
                    <a:pt x="2375174" y="1186716"/>
                  </a:lnTo>
                  <a:lnTo>
                    <a:pt x="2326596" y="1184610"/>
                  </a:lnTo>
                  <a:lnTo>
                    <a:pt x="2277568" y="1182538"/>
                  </a:lnTo>
                  <a:lnTo>
                    <a:pt x="2228081" y="1180501"/>
                  </a:lnTo>
                  <a:lnTo>
                    <a:pt x="2178126" y="1178501"/>
                  </a:lnTo>
                  <a:lnTo>
                    <a:pt x="2127696" y="1176537"/>
                  </a:lnTo>
                  <a:lnTo>
                    <a:pt x="2076782" y="1174612"/>
                  </a:lnTo>
                  <a:lnTo>
                    <a:pt x="2025377" y="1172726"/>
                  </a:lnTo>
                  <a:lnTo>
                    <a:pt x="1973472" y="1170880"/>
                  </a:lnTo>
                  <a:lnTo>
                    <a:pt x="1921059" y="1169076"/>
                  </a:lnTo>
                  <a:lnTo>
                    <a:pt x="1868130" y="1167314"/>
                  </a:lnTo>
                  <a:lnTo>
                    <a:pt x="1814677" y="1165594"/>
                  </a:lnTo>
                  <a:lnTo>
                    <a:pt x="1760691" y="1163919"/>
                  </a:lnTo>
                  <a:lnTo>
                    <a:pt x="1706166" y="1162290"/>
                  </a:lnTo>
                  <a:lnTo>
                    <a:pt x="1651091" y="1160706"/>
                  </a:lnTo>
                  <a:lnTo>
                    <a:pt x="1595460" y="1159169"/>
                  </a:lnTo>
                  <a:lnTo>
                    <a:pt x="1539264" y="1157681"/>
                  </a:lnTo>
                  <a:lnTo>
                    <a:pt x="1482496" y="1156242"/>
                  </a:lnTo>
                  <a:lnTo>
                    <a:pt x="1425146" y="1154852"/>
                  </a:lnTo>
                  <a:lnTo>
                    <a:pt x="1367207" y="1153514"/>
                  </a:lnTo>
                  <a:lnTo>
                    <a:pt x="1308671" y="1152228"/>
                  </a:lnTo>
                  <a:lnTo>
                    <a:pt x="1249529" y="1150995"/>
                  </a:lnTo>
                  <a:lnTo>
                    <a:pt x="1189774" y="1149816"/>
                  </a:lnTo>
                  <a:lnTo>
                    <a:pt x="1129397" y="1148693"/>
                  </a:lnTo>
                  <a:lnTo>
                    <a:pt x="1068390" y="1147625"/>
                  </a:lnTo>
                  <a:lnTo>
                    <a:pt x="1006746" y="1146614"/>
                  </a:lnTo>
                  <a:lnTo>
                    <a:pt x="944455" y="1145661"/>
                  </a:lnTo>
                  <a:lnTo>
                    <a:pt x="881510" y="1144768"/>
                  </a:lnTo>
                  <a:lnTo>
                    <a:pt x="817903" y="1143934"/>
                  </a:lnTo>
                  <a:lnTo>
                    <a:pt x="753626" y="1143161"/>
                  </a:lnTo>
                  <a:lnTo>
                    <a:pt x="688669" y="1142451"/>
                  </a:lnTo>
                  <a:lnTo>
                    <a:pt x="623027" y="1141803"/>
                  </a:lnTo>
                  <a:lnTo>
                    <a:pt x="556689" y="1141219"/>
                  </a:lnTo>
                  <a:lnTo>
                    <a:pt x="489648" y="1140700"/>
                  </a:lnTo>
                  <a:lnTo>
                    <a:pt x="421897" y="1140248"/>
                  </a:lnTo>
                  <a:lnTo>
                    <a:pt x="353426" y="1139862"/>
                  </a:lnTo>
                  <a:lnTo>
                    <a:pt x="284228" y="1139544"/>
                  </a:lnTo>
                  <a:lnTo>
                    <a:pt x="214294" y="1139295"/>
                  </a:lnTo>
                  <a:lnTo>
                    <a:pt x="143617" y="1139116"/>
                  </a:lnTo>
                  <a:lnTo>
                    <a:pt x="72188" y="1139008"/>
                  </a:lnTo>
                  <a:lnTo>
                    <a:pt x="0" y="1138971"/>
                  </a:lnTo>
                  <a:lnTo>
                    <a:pt x="0" y="0"/>
                  </a:lnTo>
                  <a:lnTo>
                    <a:pt x="9143983" y="0"/>
                  </a:lnTo>
                  <a:lnTo>
                    <a:pt x="9143983" y="1326336"/>
                  </a:lnTo>
                  <a:lnTo>
                    <a:pt x="9071795" y="1330193"/>
                  </a:lnTo>
                  <a:lnTo>
                    <a:pt x="9000366" y="1333936"/>
                  </a:lnTo>
                  <a:lnTo>
                    <a:pt x="8929689" y="1337568"/>
                  </a:lnTo>
                  <a:lnTo>
                    <a:pt x="8859755" y="1341087"/>
                  </a:lnTo>
                  <a:lnTo>
                    <a:pt x="8790557" y="1344497"/>
                  </a:lnTo>
                  <a:lnTo>
                    <a:pt x="8722086" y="1347797"/>
                  </a:lnTo>
                  <a:lnTo>
                    <a:pt x="8654334" y="1350989"/>
                  </a:lnTo>
                  <a:lnTo>
                    <a:pt x="8587294" y="1354073"/>
                  </a:lnTo>
                  <a:lnTo>
                    <a:pt x="8520956" y="1357051"/>
                  </a:lnTo>
                  <a:lnTo>
                    <a:pt x="8455313" y="1359924"/>
                  </a:lnTo>
                  <a:lnTo>
                    <a:pt x="8390357" y="1362692"/>
                  </a:lnTo>
                  <a:lnTo>
                    <a:pt x="8326080" y="1365357"/>
                  </a:lnTo>
                  <a:lnTo>
                    <a:pt x="8262473" y="1367919"/>
                  </a:lnTo>
                  <a:lnTo>
                    <a:pt x="8199528" y="1370380"/>
                  </a:lnTo>
                  <a:lnTo>
                    <a:pt x="8137237" y="1372741"/>
                  </a:lnTo>
                  <a:lnTo>
                    <a:pt x="8075592" y="1375002"/>
                  </a:lnTo>
                  <a:lnTo>
                    <a:pt x="8014586" y="1377165"/>
                  </a:lnTo>
                  <a:lnTo>
                    <a:pt x="7954209" y="1379230"/>
                  </a:lnTo>
                  <a:lnTo>
                    <a:pt x="7894454" y="1381198"/>
                  </a:lnTo>
                  <a:lnTo>
                    <a:pt x="7835312" y="1383072"/>
                  </a:lnTo>
                  <a:lnTo>
                    <a:pt x="7776776" y="1384850"/>
                  </a:lnTo>
                  <a:lnTo>
                    <a:pt x="7718837" y="1386536"/>
                  </a:lnTo>
                  <a:lnTo>
                    <a:pt x="7661487" y="1388128"/>
                  </a:lnTo>
                  <a:lnTo>
                    <a:pt x="7604718" y="1389629"/>
                  </a:lnTo>
                  <a:lnTo>
                    <a:pt x="7548523" y="1391040"/>
                  </a:lnTo>
                  <a:lnTo>
                    <a:pt x="7492892" y="1392361"/>
                  </a:lnTo>
                  <a:lnTo>
                    <a:pt x="7437817" y="1393594"/>
                  </a:lnTo>
                  <a:lnTo>
                    <a:pt x="7383291" y="1394739"/>
                  </a:lnTo>
                  <a:lnTo>
                    <a:pt x="7329306" y="1395797"/>
                  </a:lnTo>
                  <a:lnTo>
                    <a:pt x="7275853" y="1396770"/>
                  </a:lnTo>
                  <a:lnTo>
                    <a:pt x="7222924" y="1397658"/>
                  </a:lnTo>
                  <a:lnTo>
                    <a:pt x="7170511" y="1398463"/>
                  </a:lnTo>
                  <a:lnTo>
                    <a:pt x="7118606" y="1399185"/>
                  </a:lnTo>
                  <a:lnTo>
                    <a:pt x="7067201" y="1399825"/>
                  </a:lnTo>
                  <a:lnTo>
                    <a:pt x="7016287" y="1400385"/>
                  </a:lnTo>
                  <a:lnTo>
                    <a:pt x="6965857" y="1400865"/>
                  </a:lnTo>
                  <a:lnTo>
                    <a:pt x="6915902" y="1401267"/>
                  </a:lnTo>
                  <a:lnTo>
                    <a:pt x="6866415" y="1401591"/>
                  </a:lnTo>
                  <a:lnTo>
                    <a:pt x="6817387" y="1401838"/>
                  </a:lnTo>
                  <a:lnTo>
                    <a:pt x="6768809" y="1402009"/>
                  </a:lnTo>
                  <a:lnTo>
                    <a:pt x="6720675" y="1402106"/>
                  </a:lnTo>
                  <a:lnTo>
                    <a:pt x="6672975" y="1402129"/>
                  </a:lnTo>
                  <a:close/>
                </a:path>
              </a:pathLst>
            </a:custGeom>
            <a:solidFill>
              <a:srgbClr val="0B539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6090546" y="342390"/>
              <a:ext cx="2463806" cy="779367"/>
            </a:xfrm>
            <a:prstGeom prst="rect">
              <a:avLst/>
            </a:prstGeom>
          </p:spPr>
        </p:pic>
      </p:grpSp>
      <p:grpSp>
        <p:nvGrpSpPr>
          <p:cNvPr id="6" name="object 6"/>
          <p:cNvGrpSpPr/>
          <p:nvPr/>
        </p:nvGrpSpPr>
        <p:grpSpPr>
          <a:xfrm>
            <a:off x="-9525" y="5910373"/>
            <a:ext cx="9163685" cy="957580"/>
            <a:chOff x="-9525" y="5910373"/>
            <a:chExt cx="9163685" cy="957580"/>
          </a:xfrm>
        </p:grpSpPr>
        <p:sp>
          <p:nvSpPr>
            <p:cNvPr id="7" name="object 7"/>
            <p:cNvSpPr/>
            <p:nvPr/>
          </p:nvSpPr>
          <p:spPr>
            <a:xfrm>
              <a:off x="0" y="5919898"/>
              <a:ext cx="9144000" cy="938530"/>
            </a:xfrm>
            <a:custGeom>
              <a:avLst/>
              <a:gdLst/>
              <a:ahLst/>
              <a:cxnLst/>
              <a:rect l="l" t="t" r="r" b="b"/>
              <a:pathLst>
                <a:path w="9144000" h="938529">
                  <a:moveTo>
                    <a:pt x="9143999" y="938101"/>
                  </a:moveTo>
                  <a:lnTo>
                    <a:pt x="0" y="938101"/>
                  </a:lnTo>
                  <a:lnTo>
                    <a:pt x="0" y="68971"/>
                  </a:lnTo>
                  <a:lnTo>
                    <a:pt x="23358" y="34353"/>
                  </a:lnTo>
                  <a:lnTo>
                    <a:pt x="60677" y="9216"/>
                  </a:lnTo>
                  <a:lnTo>
                    <a:pt x="106379" y="0"/>
                  </a:lnTo>
                  <a:lnTo>
                    <a:pt x="9026669" y="0"/>
                  </a:lnTo>
                  <a:lnTo>
                    <a:pt x="9072372" y="9216"/>
                  </a:lnTo>
                  <a:lnTo>
                    <a:pt x="9109691" y="34353"/>
                  </a:lnTo>
                  <a:lnTo>
                    <a:pt x="9134850" y="71640"/>
                  </a:lnTo>
                  <a:lnTo>
                    <a:pt x="9143999" y="117306"/>
                  </a:lnTo>
                  <a:lnTo>
                    <a:pt x="9143999" y="938101"/>
                  </a:lnTo>
                  <a:close/>
                </a:path>
              </a:pathLst>
            </a:custGeom>
            <a:solidFill>
              <a:srgbClr val="0B539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0" y="5919898"/>
              <a:ext cx="9144635" cy="938530"/>
            </a:xfrm>
            <a:custGeom>
              <a:avLst/>
              <a:gdLst/>
              <a:ahLst/>
              <a:cxnLst/>
              <a:rect l="l" t="t" r="r" b="b"/>
              <a:pathLst>
                <a:path w="9144635" h="938529">
                  <a:moveTo>
                    <a:pt x="0" y="68971"/>
                  </a:moveTo>
                  <a:lnTo>
                    <a:pt x="23358" y="34353"/>
                  </a:lnTo>
                  <a:lnTo>
                    <a:pt x="60677" y="9216"/>
                  </a:lnTo>
                  <a:lnTo>
                    <a:pt x="106379" y="0"/>
                  </a:lnTo>
                  <a:lnTo>
                    <a:pt x="9026669" y="0"/>
                  </a:lnTo>
                  <a:lnTo>
                    <a:pt x="9072372" y="9216"/>
                  </a:lnTo>
                  <a:lnTo>
                    <a:pt x="9109691" y="34353"/>
                  </a:lnTo>
                  <a:lnTo>
                    <a:pt x="9134850" y="71640"/>
                  </a:lnTo>
                  <a:lnTo>
                    <a:pt x="9143999" y="117306"/>
                  </a:lnTo>
                  <a:lnTo>
                    <a:pt x="9144075" y="938101"/>
                  </a:lnTo>
                  <a:lnTo>
                    <a:pt x="0" y="938101"/>
                  </a:lnTo>
                </a:path>
              </a:pathLst>
            </a:custGeom>
            <a:ln w="19049">
              <a:solidFill>
                <a:srgbClr val="0B539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111900" y="5985812"/>
            <a:ext cx="3348354" cy="7435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MISSION</a:t>
            </a:r>
            <a:endParaRPr sz="1400">
              <a:latin typeface="Georgia" panose="02040502050405020303"/>
              <a:cs typeface="Georgia" panose="02040502050405020303"/>
            </a:endParaRPr>
          </a:p>
          <a:p>
            <a:pPr marL="12065" marR="5080" algn="ctr">
              <a:lnSpc>
                <a:spcPct val="100000"/>
              </a:lnSpc>
              <a:spcBef>
                <a:spcPts val="10"/>
              </a:spcBef>
            </a:pPr>
            <a:r>
              <a:rPr sz="110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CHRIST</a:t>
            </a:r>
            <a:r>
              <a:rPr sz="1100" spc="-2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10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is</a:t>
            </a:r>
            <a:r>
              <a:rPr sz="1100" spc="-2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10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a</a:t>
            </a:r>
            <a:r>
              <a:rPr sz="1100" spc="-2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nurturing</a:t>
            </a:r>
            <a:r>
              <a:rPr sz="1100" spc="-2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10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ground</a:t>
            </a:r>
            <a:r>
              <a:rPr sz="1100" spc="-2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10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for</a:t>
            </a:r>
            <a:r>
              <a:rPr sz="1100" spc="-2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10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an</a:t>
            </a:r>
            <a:r>
              <a:rPr sz="1100" spc="-2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individual’s </a:t>
            </a:r>
            <a:r>
              <a:rPr sz="110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holistic</a:t>
            </a:r>
            <a:r>
              <a:rPr sz="1100" spc="-3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development</a:t>
            </a:r>
            <a:r>
              <a:rPr sz="1100" spc="-2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10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to</a:t>
            </a:r>
            <a:r>
              <a:rPr sz="1100" spc="-2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10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make</a:t>
            </a:r>
            <a:r>
              <a:rPr sz="1100" spc="-2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effective</a:t>
            </a:r>
            <a:r>
              <a:rPr sz="1100" spc="-2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10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contribution</a:t>
            </a:r>
            <a:r>
              <a:rPr sz="1100" spc="-2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to </a:t>
            </a:r>
            <a:r>
              <a:rPr sz="110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the</a:t>
            </a:r>
            <a:r>
              <a:rPr sz="1100" spc="-2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10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society</a:t>
            </a:r>
            <a:r>
              <a:rPr sz="1100" spc="-1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10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in</a:t>
            </a:r>
            <a:r>
              <a:rPr sz="1100" spc="-1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10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a</a:t>
            </a:r>
            <a:r>
              <a:rPr sz="1100" spc="-2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dynamic</a:t>
            </a:r>
            <a:r>
              <a:rPr sz="1100" spc="-1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environment</a:t>
            </a:r>
            <a:endParaRPr sz="11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012870" y="6030135"/>
            <a:ext cx="1423035" cy="4083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VISION</a:t>
            </a:r>
            <a:endParaRPr sz="1400">
              <a:latin typeface="Georgia" panose="02040502050405020303"/>
              <a:cs typeface="Georgia" panose="02040502050405020303"/>
            </a:endParaRPr>
          </a:p>
          <a:p>
            <a:pPr algn="ctr">
              <a:lnSpc>
                <a:spcPct val="100000"/>
              </a:lnSpc>
              <a:spcBef>
                <a:spcPts val="10"/>
              </a:spcBef>
            </a:pPr>
            <a:r>
              <a:rPr sz="1100" spc="-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Excellence</a:t>
            </a:r>
            <a:r>
              <a:rPr sz="1100" spc="-2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10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and</a:t>
            </a:r>
            <a:r>
              <a:rPr sz="1100" spc="-1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Service</a:t>
            </a:r>
            <a:endParaRPr sz="11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199149" y="5985812"/>
            <a:ext cx="2722880" cy="7435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CORE</a:t>
            </a:r>
            <a:r>
              <a:rPr sz="1400" b="1" spc="33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VALUES</a:t>
            </a:r>
            <a:endParaRPr sz="1400">
              <a:latin typeface="Georgia" panose="02040502050405020303"/>
              <a:cs typeface="Georgia" panose="02040502050405020303"/>
            </a:endParaRPr>
          </a:p>
          <a:p>
            <a:pPr marL="318135" marR="309880" algn="ctr">
              <a:lnSpc>
                <a:spcPct val="100000"/>
              </a:lnSpc>
              <a:spcBef>
                <a:spcPts val="10"/>
              </a:spcBef>
            </a:pPr>
            <a:r>
              <a:rPr sz="110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Faith</a:t>
            </a:r>
            <a:r>
              <a:rPr sz="1100" spc="-2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10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in</a:t>
            </a:r>
            <a:r>
              <a:rPr sz="1100" spc="-1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10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God</a:t>
            </a:r>
            <a:r>
              <a:rPr sz="1100" spc="-1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10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|</a:t>
            </a:r>
            <a:r>
              <a:rPr sz="1100" spc="23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10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Moral</a:t>
            </a:r>
            <a:r>
              <a:rPr sz="1100" spc="-1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Uprightness </a:t>
            </a:r>
            <a:r>
              <a:rPr sz="110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Love</a:t>
            </a:r>
            <a:r>
              <a:rPr sz="1100" spc="-4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10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of</a:t>
            </a:r>
            <a:r>
              <a:rPr sz="1100" spc="-4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10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Fellow</a:t>
            </a:r>
            <a:r>
              <a:rPr sz="1100" spc="-4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Beings</a:t>
            </a:r>
            <a:endParaRPr sz="1100">
              <a:latin typeface="Georgia" panose="02040502050405020303"/>
              <a:cs typeface="Georgia" panose="02040502050405020303"/>
            </a:endParaRPr>
          </a:p>
          <a:p>
            <a:pPr algn="ctr">
              <a:lnSpc>
                <a:spcPct val="100000"/>
              </a:lnSpc>
            </a:pPr>
            <a:r>
              <a:rPr sz="110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Social </a:t>
            </a:r>
            <a:r>
              <a:rPr sz="1100" spc="-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Responsibility</a:t>
            </a:r>
            <a:r>
              <a:rPr sz="1100" spc="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10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|</a:t>
            </a:r>
            <a:r>
              <a:rPr sz="1100" spc="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Pursuit</a:t>
            </a:r>
            <a:r>
              <a:rPr sz="1100" spc="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10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of</a:t>
            </a:r>
            <a:r>
              <a:rPr sz="1100" spc="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Excellence</a:t>
            </a:r>
            <a:endParaRPr sz="11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1187504" y="2569790"/>
            <a:ext cx="7073766" cy="858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lang="en-US" sz="3500" dirty="0" err="1">
                <a:solidFill>
                  <a:schemeClr val="tx2"/>
                </a:solidFill>
              </a:rPr>
              <a:t>NeuroCure</a:t>
            </a:r>
            <a:r>
              <a:rPr lang="en-US" sz="3500" dirty="0">
                <a:solidFill>
                  <a:schemeClr val="tx2"/>
                </a:solidFill>
              </a:rPr>
              <a:t> </a:t>
            </a:r>
            <a:br>
              <a:rPr lang="en-US" sz="3500" dirty="0">
                <a:solidFill>
                  <a:schemeClr val="tx2"/>
                </a:solidFill>
              </a:rPr>
            </a:br>
            <a:r>
              <a:rPr lang="en-US" sz="2000" dirty="0">
                <a:solidFill>
                  <a:schemeClr val="tx2"/>
                </a:solidFill>
              </a:rPr>
              <a:t>(Brain </a:t>
            </a:r>
            <a:r>
              <a:rPr lang="en-US" sz="2000" dirty="0" err="1">
                <a:solidFill>
                  <a:schemeClr val="tx2"/>
                </a:solidFill>
              </a:rPr>
              <a:t>Tumour</a:t>
            </a:r>
            <a:r>
              <a:rPr lang="en-US" sz="2000" dirty="0">
                <a:solidFill>
                  <a:schemeClr val="tx2"/>
                </a:solidFill>
              </a:rPr>
              <a:t> Detection Software)</a:t>
            </a:r>
            <a:endParaRPr sz="2500" dirty="0">
              <a:solidFill>
                <a:schemeClr val="tx2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562296" y="4504055"/>
            <a:ext cx="3327095" cy="922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Book Antiqua" panose="02040602050305030304" pitchFamily="18" charset="0"/>
              </a:rPr>
              <a:t>Darin Davis</a:t>
            </a:r>
            <a:r>
              <a:rPr lang="en-US" altLang="en-IN" dirty="0">
                <a:latin typeface="Book Antiqua" panose="02040602050305030304" pitchFamily="18" charset="0"/>
              </a:rPr>
              <a:t> </a:t>
            </a:r>
            <a:r>
              <a:rPr lang="en-IN" dirty="0">
                <a:latin typeface="Book Antiqua" panose="02040602050305030304" pitchFamily="18" charset="0"/>
              </a:rPr>
              <a:t>(2262214)</a:t>
            </a:r>
            <a:endParaRPr lang="en-IN" dirty="0">
              <a:latin typeface="Book Antiqua" panose="02040602050305030304" pitchFamily="18" charset="0"/>
            </a:endParaRPr>
          </a:p>
          <a:p>
            <a:r>
              <a:rPr lang="en-IN" dirty="0">
                <a:latin typeface="Book Antiqua" panose="02040602050305030304" pitchFamily="18" charset="0"/>
              </a:rPr>
              <a:t>Ryan Netto</a:t>
            </a:r>
            <a:r>
              <a:rPr lang="en-US" altLang="en-IN" dirty="0">
                <a:latin typeface="Book Antiqua" panose="02040602050305030304" pitchFamily="18" charset="0"/>
              </a:rPr>
              <a:t> </a:t>
            </a:r>
            <a:r>
              <a:rPr lang="en-IN" dirty="0">
                <a:latin typeface="Book Antiqua" panose="02040602050305030304" pitchFamily="18" charset="0"/>
              </a:rPr>
              <a:t>(2262248)</a:t>
            </a:r>
            <a:endParaRPr lang="en-IN" dirty="0">
              <a:latin typeface="Book Antiqua" panose="02040602050305030304" pitchFamily="18" charset="0"/>
            </a:endParaRPr>
          </a:p>
          <a:p>
            <a:r>
              <a:rPr lang="en-IN" dirty="0">
                <a:latin typeface="Book Antiqua" panose="02040602050305030304" pitchFamily="18" charset="0"/>
              </a:rPr>
              <a:t>Tom Jimmy</a:t>
            </a:r>
            <a:r>
              <a:rPr lang="en-US" altLang="en-IN" dirty="0">
                <a:latin typeface="Book Antiqua" panose="02040602050305030304" pitchFamily="18" charset="0"/>
              </a:rPr>
              <a:t> </a:t>
            </a:r>
            <a:r>
              <a:rPr lang="en-IN" dirty="0">
                <a:latin typeface="Book Antiqua" panose="02040602050305030304" pitchFamily="18" charset="0"/>
              </a:rPr>
              <a:t>(2262261)</a:t>
            </a:r>
            <a:endParaRPr lang="en-IN" sz="1800" dirty="0">
              <a:latin typeface="Book Antiqua" panose="02040602050305030304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04660" y="4724265"/>
            <a:ext cx="3872675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Book Antiqua" panose="02040602050305030304" pitchFamily="18" charset="0"/>
              </a:rPr>
              <a:t>Guide</a:t>
            </a:r>
            <a:r>
              <a:rPr lang="en-IN" sz="1800" b="1" dirty="0">
                <a:latin typeface="Book Antiqua" panose="02040602050305030304" pitchFamily="18" charset="0"/>
              </a:rPr>
              <a:t>: </a:t>
            </a:r>
            <a:r>
              <a:rPr lang="en-IN" dirty="0">
                <a:latin typeface="Book Antiqua" panose="02040602050305030304" pitchFamily="18" charset="0"/>
              </a:rPr>
              <a:t>Dr </a:t>
            </a:r>
            <a:r>
              <a:rPr lang="en-IN" dirty="0" err="1">
                <a:latin typeface="Book Antiqua" panose="02040602050305030304" pitchFamily="18" charset="0"/>
              </a:rPr>
              <a:t>Wims</a:t>
            </a:r>
            <a:r>
              <a:rPr lang="en-IN" dirty="0">
                <a:latin typeface="Book Antiqua" panose="02040602050305030304" pitchFamily="18" charset="0"/>
              </a:rPr>
              <a:t> Magdalene Mary</a:t>
            </a:r>
            <a:endParaRPr lang="en-IN" dirty="0">
              <a:latin typeface="Book Antiqua" panose="0204060205030503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06227" y="145809"/>
            <a:ext cx="1685925" cy="4229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CHRIST</a:t>
            </a:r>
            <a:endParaRPr sz="1400">
              <a:latin typeface="Georgia" panose="02040502050405020303"/>
              <a:cs typeface="Georgia" panose="02040502050405020303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20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Deemed</a:t>
            </a:r>
            <a:r>
              <a:rPr sz="1200" spc="-2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20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to</a:t>
            </a:r>
            <a:r>
              <a:rPr sz="1200" spc="-2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20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be</a:t>
            </a:r>
            <a:r>
              <a:rPr sz="1200" spc="-2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University</a:t>
            </a:r>
            <a:endParaRPr sz="12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65"/>
              </a:lnSpc>
            </a:pPr>
            <a:r>
              <a:rPr dirty="0"/>
              <a:t>Excellence</a:t>
            </a:r>
            <a:r>
              <a:rPr spc="-35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spc="-10" dirty="0"/>
              <a:t>Service</a:t>
            </a:r>
            <a:endParaRPr spc="-10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33479" y="1143148"/>
            <a:ext cx="7431325" cy="784225"/>
          </a:xfrm>
          <a:prstGeom prst="rect">
            <a:avLst/>
          </a:prstGeom>
        </p:spPr>
        <p:txBody>
          <a:bodyPr vert="horz" wrap="square" lIns="0" tIns="29261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INTRODUCTION</a:t>
            </a:r>
            <a:endParaRPr lang="en-US" altLang="en-US" sz="3200" spc="-1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57200" y="1981200"/>
            <a:ext cx="8181340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Brain tumors are abnormal growths of cells in the brain that can be life-threatening if not detected early.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MRI scans are the most reliable imaging method, but manual diagnosis is time-consuming, subjective, and requires expert knowledge.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Our solution integrates: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• Deep Learning model (YOLOv8) for automated tumor detection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• Multi-class classification – Glioma, Meningioma, Pituitary Tumor, and No Tumor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• Fast and accurate predictions suitable for real-time clinical support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• Explainable AI outputs for better trust and usability in healthcare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06227" y="145809"/>
            <a:ext cx="1685925" cy="4229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CHRIST</a:t>
            </a:r>
            <a:endParaRPr sz="1400">
              <a:latin typeface="Georgia" panose="02040502050405020303"/>
              <a:cs typeface="Georgia" panose="02040502050405020303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20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Deemed</a:t>
            </a:r>
            <a:r>
              <a:rPr sz="1200" spc="-2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20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to</a:t>
            </a:r>
            <a:r>
              <a:rPr sz="1200" spc="-2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20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be</a:t>
            </a:r>
            <a:r>
              <a:rPr sz="1200" spc="-2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University</a:t>
            </a:r>
            <a:endParaRPr sz="12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65"/>
              </a:lnSpc>
            </a:pPr>
            <a:r>
              <a:rPr dirty="0"/>
              <a:t>Excellence</a:t>
            </a:r>
            <a:r>
              <a:rPr spc="-35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spc="-10" dirty="0"/>
              <a:t>Service</a:t>
            </a:r>
            <a:endParaRPr spc="-10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85879" y="457348"/>
            <a:ext cx="7431325" cy="722630"/>
          </a:xfrm>
          <a:prstGeom prst="rect">
            <a:avLst/>
          </a:prstGeom>
        </p:spPr>
        <p:txBody>
          <a:bodyPr vert="horz" wrap="square" lIns="0" tIns="29261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Problem Domain</a:t>
            </a:r>
            <a:endParaRPr lang="en-IN" altLang="en-US" spc="-1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28320" y="1285240"/>
            <a:ext cx="8087360" cy="51790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lnSpc>
                <a:spcPct val="80000"/>
              </a:lnSpc>
              <a:buFont typeface="Arial" panose="020B0604020202020204" pitchFamily="34" charset="0"/>
              <a:buNone/>
            </a:pP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Glioma Detection:</a:t>
            </a:r>
            <a:endParaRPr lang="en-US" altLang="en-US" sz="18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285750" indent="-285750">
              <a:lnSpc>
                <a:spcPct val="80000"/>
              </a:lnSpc>
              <a:buFont typeface="Arial" panose="020B0604020202020204" pitchFamily="34" charset="0"/>
              <a:buChar char="•"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285750" indent="-285750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Tumors from glial cells, often aggressive and invasive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285750" indent="-285750">
              <a:lnSpc>
                <a:spcPct val="80000"/>
              </a:lnSpc>
              <a:buFont typeface="Arial" panose="020B0604020202020204" pitchFamily="34" charset="0"/>
              <a:buChar char="•"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285750" indent="-285750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Identified on MRI scans as irregular masses with tissue infiltration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>
              <a:lnSpc>
                <a:spcPct val="80000"/>
              </a:lnSpc>
              <a:buFont typeface="Arial" panose="020B0604020202020204" pitchFamily="34" charset="0"/>
              <a:buNone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>
              <a:lnSpc>
                <a:spcPct val="80000"/>
              </a:lnSpc>
              <a:buFont typeface="Arial" panose="020B0604020202020204" pitchFamily="34" charset="0"/>
              <a:buNone/>
            </a:pP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Meningioma Detection:</a:t>
            </a:r>
            <a:endParaRPr lang="en-US" altLang="en-US" sz="18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>
              <a:lnSpc>
                <a:spcPct val="80000"/>
              </a:lnSpc>
              <a:buFont typeface="Arial" panose="020B0604020202020204" pitchFamily="34" charset="0"/>
              <a:buNone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285750" indent="-285750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Tumors in the protective membranes (meninges), usually benign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285750" indent="-285750">
              <a:lnSpc>
                <a:spcPct val="80000"/>
              </a:lnSpc>
              <a:buFont typeface="Arial" panose="020B0604020202020204" pitchFamily="34" charset="0"/>
              <a:buChar char="•"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285750" indent="-285750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Well-defined extra-axial masses visible on MRI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>
              <a:lnSpc>
                <a:spcPct val="80000"/>
              </a:lnSpc>
              <a:buFont typeface="Arial" panose="020B0604020202020204" pitchFamily="34" charset="0"/>
              <a:buNone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>
              <a:lnSpc>
                <a:spcPct val="80000"/>
              </a:lnSpc>
              <a:buFont typeface="Arial" panose="020B0604020202020204" pitchFamily="34" charset="0"/>
              <a:buNone/>
            </a:pP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Pituitary Tumor Detection:</a:t>
            </a:r>
            <a:endParaRPr lang="en-US" altLang="en-US" sz="18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>
              <a:lnSpc>
                <a:spcPct val="80000"/>
              </a:lnSpc>
              <a:buFont typeface="Arial" panose="020B0604020202020204" pitchFamily="34" charset="0"/>
              <a:buNone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285750" indent="-285750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Growth in the pituitary gland affecting hormone regulation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285750" indent="-285750">
              <a:lnSpc>
                <a:spcPct val="80000"/>
              </a:lnSpc>
              <a:buFont typeface="Arial" panose="020B0604020202020204" pitchFamily="34" charset="0"/>
              <a:buChar char="•"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285750" indent="-285750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Appears as mass near sella turcica in MRI scans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>
              <a:lnSpc>
                <a:spcPct val="80000"/>
              </a:lnSpc>
              <a:buFont typeface="Arial" panose="020B0604020202020204" pitchFamily="34" charset="0"/>
              <a:buNone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>
              <a:lnSpc>
                <a:spcPct val="80000"/>
              </a:lnSpc>
              <a:buFont typeface="Arial" panose="020B0604020202020204" pitchFamily="34" charset="0"/>
              <a:buNone/>
            </a:pP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No Tumor Cases:</a:t>
            </a:r>
            <a:endParaRPr lang="en-US" altLang="en-US" sz="18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>
              <a:lnSpc>
                <a:spcPct val="80000"/>
              </a:lnSpc>
              <a:buFont typeface="Arial" panose="020B0604020202020204" pitchFamily="34" charset="0"/>
              <a:buNone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285750" indent="-285750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Normal MRI scans with no abnormal growth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285750" indent="-285750">
              <a:lnSpc>
                <a:spcPct val="80000"/>
              </a:lnSpc>
              <a:buFont typeface="Arial" panose="020B0604020202020204" pitchFamily="34" charset="0"/>
              <a:buChar char="•"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285750" indent="-285750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Ensures the model distinguishes healthy from diseased brains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06227" y="145809"/>
            <a:ext cx="1685925" cy="4229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CHRIST</a:t>
            </a:r>
            <a:endParaRPr sz="1400">
              <a:latin typeface="Georgia" panose="02040502050405020303"/>
              <a:cs typeface="Georgia" panose="02040502050405020303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20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Deemed</a:t>
            </a:r>
            <a:r>
              <a:rPr sz="1200" spc="-2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20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to</a:t>
            </a:r>
            <a:r>
              <a:rPr sz="1200" spc="-2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20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be</a:t>
            </a:r>
            <a:r>
              <a:rPr sz="1200" spc="-2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University</a:t>
            </a:r>
            <a:endParaRPr sz="12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65"/>
              </a:lnSpc>
            </a:pPr>
            <a:r>
              <a:rPr dirty="0"/>
              <a:t>Excellence</a:t>
            </a:r>
            <a:r>
              <a:rPr spc="-35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spc="-10" dirty="0"/>
              <a:t>Service</a:t>
            </a:r>
            <a:endParaRPr spc="-10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85879" y="457348"/>
            <a:ext cx="7431325" cy="722630"/>
          </a:xfrm>
          <a:prstGeom prst="rect">
            <a:avLst/>
          </a:prstGeom>
        </p:spPr>
        <p:txBody>
          <a:bodyPr vert="horz" wrap="square" lIns="0" tIns="29261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DataSet</a:t>
            </a:r>
            <a:endParaRPr lang="en-IN" altLang="en-US" spc="-1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28320" y="1669415"/>
            <a:ext cx="8087360" cy="36766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• Roboflow Brain MRI Dataset (~2,443 images with bounding box annotations)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• Classes: Glioma, Meningioma, Pituitary Tumor, No Tumor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• Format: YOLO-compatible (images + labels)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• Includes No Tumor cases to reduce false positives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Purpose: Provides diverse MRI data for accurate detection and classification of brain tumors.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06227" y="145809"/>
            <a:ext cx="1685925" cy="4229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CHRIST</a:t>
            </a:r>
            <a:endParaRPr sz="1400">
              <a:latin typeface="Georgia" panose="02040502050405020303"/>
              <a:cs typeface="Georgia" panose="02040502050405020303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20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Deemed</a:t>
            </a:r>
            <a:r>
              <a:rPr sz="1200" spc="-2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20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to</a:t>
            </a:r>
            <a:r>
              <a:rPr sz="1200" spc="-2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20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be</a:t>
            </a:r>
            <a:r>
              <a:rPr sz="1200" spc="-2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University</a:t>
            </a:r>
            <a:endParaRPr sz="12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65"/>
              </a:lnSpc>
            </a:pPr>
            <a:r>
              <a:rPr dirty="0"/>
              <a:t>Excellence</a:t>
            </a:r>
            <a:r>
              <a:rPr spc="-35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spc="-10" dirty="0"/>
              <a:t>Service</a:t>
            </a:r>
            <a:endParaRPr spc="-10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33479" y="848508"/>
            <a:ext cx="7431325" cy="692150"/>
          </a:xfrm>
          <a:prstGeom prst="rect">
            <a:avLst/>
          </a:prstGeom>
        </p:spPr>
        <p:txBody>
          <a:bodyPr vert="horz" wrap="square" lIns="0" tIns="29261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en-US" sz="2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Why YOLOv8 is Better than Previous Models</a:t>
            </a:r>
            <a:endParaRPr sz="2600" spc="-10" dirty="0"/>
          </a:p>
        </p:txBody>
      </p:sp>
      <p:sp>
        <p:nvSpPr>
          <p:cNvPr id="8" name="TextBox 7"/>
          <p:cNvSpPr txBox="1"/>
          <p:nvPr/>
        </p:nvSpPr>
        <p:spPr>
          <a:xfrm>
            <a:off x="533400" y="1819275"/>
            <a:ext cx="8087360" cy="42945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just"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1. Real-Time Detection: Earlier CNN-based classifiers (e.g., ResNet, EfficientNet) only performed classification → they couldn’t localize tumors.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 algn="just">
              <a:lnSpc>
                <a:spcPct val="90000"/>
              </a:lnSpc>
              <a:buFont typeface="Arial" panose="020B0604020202020204" pitchFamily="34" charset="0"/>
              <a:buNone/>
            </a:pP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 algn="just"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YOLOv8 performs both detection &amp; classification in one step, enabling precise tumor localization in MRI scans.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 algn="just">
              <a:lnSpc>
                <a:spcPct val="90000"/>
              </a:lnSpc>
              <a:buFont typeface="Arial" panose="020B0604020202020204" pitchFamily="34" charset="0"/>
              <a:buNone/>
            </a:pP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 algn="just">
              <a:lnSpc>
                <a:spcPct val="90000"/>
              </a:lnSpc>
              <a:buNone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2. Higher Accuracy: Achieved mAP50 ≈ 0.961 on test data.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 algn="just">
              <a:lnSpc>
                <a:spcPct val="90000"/>
              </a:lnSpc>
              <a:buFont typeface="Arial" panose="020B0604020202020204" pitchFamily="34" charset="0"/>
              <a:buNone/>
            </a:pP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 algn="just"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                        Handles multiple tumor classes with strong per-class precision.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 algn="just">
              <a:lnSpc>
                <a:spcPct val="90000"/>
              </a:lnSpc>
              <a:buFont typeface="Arial" panose="020B0604020202020204" pitchFamily="34" charset="0"/>
              <a:buNone/>
            </a:pP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 algn="just">
              <a:lnSpc>
                <a:spcPct val="90000"/>
              </a:lnSpc>
              <a:buFont typeface="Arial" panose="020B0604020202020204" pitchFamily="34" charset="0"/>
              <a:buNone/>
            </a:pP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 algn="just"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3. Faster Inference:   Optimized architecture → suitable for real-time diagnostic support.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 algn="just">
              <a:lnSpc>
                <a:spcPct val="90000"/>
              </a:lnSpc>
              <a:buFont typeface="Arial" panose="020B0604020202020204" pitchFamily="34" charset="0"/>
              <a:buNone/>
            </a:pP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 algn="just"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                        Lightweight YOLOv8s variant chosen for speed on limited hardware.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 algn="just">
              <a:lnSpc>
                <a:spcPct val="90000"/>
              </a:lnSpc>
              <a:buFont typeface="Arial" panose="020B0604020202020204" pitchFamily="34" charset="0"/>
              <a:buNone/>
            </a:pP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 algn="just">
              <a:lnSpc>
                <a:spcPct val="90000"/>
              </a:lnSpc>
              <a:buFont typeface="Arial" panose="020B0604020202020204" pitchFamily="34" charset="0"/>
              <a:buNone/>
            </a:pP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 algn="just"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4. Better Generalization: Trained with data augmentation (resizing, normalization, rotations).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 algn="just">
              <a:lnSpc>
                <a:spcPct val="90000"/>
              </a:lnSpc>
              <a:buFont typeface="Arial" panose="020B0604020202020204" pitchFamily="34" charset="0"/>
              <a:buNone/>
            </a:pP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 algn="just"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                               Robust against MRI scan variations across patients and machines.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06227" y="145809"/>
            <a:ext cx="1685925" cy="4229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CHRIST</a:t>
            </a:r>
            <a:endParaRPr sz="1400">
              <a:latin typeface="Georgia" panose="02040502050405020303"/>
              <a:cs typeface="Georgia" panose="02040502050405020303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20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Deemed</a:t>
            </a:r>
            <a:r>
              <a:rPr sz="1200" spc="-2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20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to</a:t>
            </a:r>
            <a:r>
              <a:rPr sz="1200" spc="-2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20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be</a:t>
            </a:r>
            <a:r>
              <a:rPr sz="1200" spc="-2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University</a:t>
            </a:r>
            <a:endParaRPr sz="12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65"/>
              </a:lnSpc>
            </a:pPr>
            <a:r>
              <a:rPr dirty="0"/>
              <a:t>Excellence</a:t>
            </a:r>
            <a:r>
              <a:rPr spc="-35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spc="-10" dirty="0"/>
              <a:t>Service</a:t>
            </a:r>
            <a:endParaRPr spc="-10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33479" y="848508"/>
            <a:ext cx="7431325" cy="692150"/>
          </a:xfrm>
          <a:prstGeom prst="rect">
            <a:avLst/>
          </a:prstGeom>
        </p:spPr>
        <p:txBody>
          <a:bodyPr vert="horz" wrap="square" lIns="0" tIns="29261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altLang="en-US" sz="2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Results So Far</a:t>
            </a:r>
            <a:endParaRPr lang="en-IN" altLang="en-US" sz="2600" spc="-1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33400" y="1819275"/>
            <a:ext cx="8087360" cy="34931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indent="0" algn="just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• Achieved mAP50 ≈ 0.961 on test dataset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 algn="just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• Successfully classified four categories – Glioma, Meningioma, Pituitary Tumor, No Tumor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 algn="just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• Model tested with bounding box predictions on MRI scans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 algn="just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• Integrated data augmentation techniques for better generalization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06227" y="145809"/>
            <a:ext cx="1685925" cy="4229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CHRIST</a:t>
            </a:r>
            <a:endParaRPr sz="1400">
              <a:latin typeface="Georgia" panose="02040502050405020303"/>
              <a:cs typeface="Georgia" panose="02040502050405020303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20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Deemed</a:t>
            </a:r>
            <a:r>
              <a:rPr sz="1200" spc="-2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20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to</a:t>
            </a:r>
            <a:r>
              <a:rPr sz="1200" spc="-2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20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be</a:t>
            </a:r>
            <a:r>
              <a:rPr sz="1200" spc="-2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University</a:t>
            </a:r>
            <a:endParaRPr sz="12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65"/>
              </a:lnSpc>
            </a:pPr>
            <a:r>
              <a:rPr dirty="0"/>
              <a:t>Excellence</a:t>
            </a:r>
            <a:r>
              <a:rPr spc="-35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spc="-10" dirty="0"/>
              <a:t>Service</a:t>
            </a:r>
            <a:endParaRPr spc="-10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33479" y="848508"/>
            <a:ext cx="7431325" cy="692150"/>
          </a:xfrm>
          <a:prstGeom prst="rect">
            <a:avLst/>
          </a:prstGeom>
        </p:spPr>
        <p:txBody>
          <a:bodyPr vert="horz" wrap="square" lIns="0" tIns="29261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en-US" sz="2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FUTURE OUTLOOK</a:t>
            </a:r>
            <a:endParaRPr sz="2600" spc="-10" dirty="0"/>
          </a:p>
        </p:txBody>
      </p:sp>
      <p:sp>
        <p:nvSpPr>
          <p:cNvPr id="8" name="TextBox 7"/>
          <p:cNvSpPr txBox="1"/>
          <p:nvPr/>
        </p:nvSpPr>
        <p:spPr>
          <a:xfrm>
            <a:off x="533400" y="1752600"/>
            <a:ext cx="8087360" cy="42252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just">
              <a:lnSpc>
                <a:spcPct val="80000"/>
              </a:lnSpc>
              <a:buFont typeface="Arial" panose="020B0604020202020204" pitchFamily="34" charset="0"/>
              <a:buNone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1. Model Improvements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 algn="just">
              <a:lnSpc>
                <a:spcPct val="80000"/>
              </a:lnSpc>
              <a:buFont typeface="Arial" panose="020B0604020202020204" pitchFamily="34" charset="0"/>
              <a:buNone/>
            </a:pP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 algn="just">
              <a:lnSpc>
                <a:spcPct val="80000"/>
              </a:lnSpc>
              <a:buFont typeface="Arial" panose="020B0604020202020204" pitchFamily="34" charset="0"/>
              <a:buNone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Hyperparameter tuning (epochs, learning rate, augmentations)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 algn="just">
              <a:lnSpc>
                <a:spcPct val="80000"/>
              </a:lnSpc>
              <a:buFont typeface="Arial" panose="020B0604020202020204" pitchFamily="34" charset="0"/>
              <a:buNone/>
            </a:pP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 algn="just">
              <a:lnSpc>
                <a:spcPct val="80000"/>
              </a:lnSpc>
              <a:buFont typeface="Arial" panose="020B0604020202020204" pitchFamily="34" charset="0"/>
              <a:buNone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Explore larger YOLOv8 variants (YOLOv8m/l) for higher accuracy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 algn="just">
              <a:lnSpc>
                <a:spcPct val="80000"/>
              </a:lnSpc>
              <a:buFont typeface="Arial" panose="020B0604020202020204" pitchFamily="34" charset="0"/>
              <a:buNone/>
            </a:pP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 algn="just">
              <a:lnSpc>
                <a:spcPct val="80000"/>
              </a:lnSpc>
              <a:buFont typeface="Arial" panose="020B0604020202020204" pitchFamily="34" charset="0"/>
              <a:buNone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Incorporate segmentation models (YOLOv8-seg / U-Net) for pixel-level tumor boundaries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 algn="just">
              <a:lnSpc>
                <a:spcPct val="80000"/>
              </a:lnSpc>
              <a:buFont typeface="Arial" panose="020B0604020202020204" pitchFamily="34" charset="0"/>
              <a:buNone/>
            </a:pP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 algn="just">
              <a:lnSpc>
                <a:spcPct val="80000"/>
              </a:lnSpc>
              <a:buFont typeface="Arial" panose="020B0604020202020204" pitchFamily="34" charset="0"/>
              <a:buNone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2. Explainability &amp; Trust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 algn="just">
              <a:lnSpc>
                <a:spcPct val="80000"/>
              </a:lnSpc>
              <a:buFont typeface="Arial" panose="020B0604020202020204" pitchFamily="34" charset="0"/>
              <a:buNone/>
            </a:pP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 algn="just">
              <a:lnSpc>
                <a:spcPct val="80000"/>
              </a:lnSpc>
              <a:buFont typeface="Arial" panose="020B0604020202020204" pitchFamily="34" charset="0"/>
              <a:buNone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 Grad-CAM heatmaps for interpretable predictions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 algn="just">
              <a:lnSpc>
                <a:spcPct val="80000"/>
              </a:lnSpc>
              <a:buFont typeface="Arial" panose="020B0604020202020204" pitchFamily="34" charset="0"/>
              <a:buNone/>
            </a:pP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 algn="just">
              <a:lnSpc>
                <a:spcPct val="80000"/>
              </a:lnSpc>
              <a:buFont typeface="Arial" panose="020B0604020202020204" pitchFamily="34" charset="0"/>
              <a:buNone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 Building clinician-friendly dashboards for visual results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 algn="just">
              <a:lnSpc>
                <a:spcPct val="80000"/>
              </a:lnSpc>
              <a:buFont typeface="Arial" panose="020B0604020202020204" pitchFamily="34" charset="0"/>
              <a:buNone/>
            </a:pP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 algn="just">
              <a:lnSpc>
                <a:spcPct val="80000"/>
              </a:lnSpc>
              <a:buFont typeface="Arial" panose="020B0604020202020204" pitchFamily="34" charset="0"/>
              <a:buNone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3. Clinical Integration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 algn="just">
              <a:lnSpc>
                <a:spcPct val="80000"/>
              </a:lnSpc>
              <a:buFont typeface="Arial" panose="020B0604020202020204" pitchFamily="34" charset="0"/>
              <a:buNone/>
            </a:pP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 algn="just">
              <a:lnSpc>
                <a:spcPct val="80000"/>
              </a:lnSpc>
              <a:buFont typeface="Arial" panose="020B0604020202020204" pitchFamily="34" charset="0"/>
              <a:buNone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 Testing with real-world hospital MRI scans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 algn="just">
              <a:lnSpc>
                <a:spcPct val="80000"/>
              </a:lnSpc>
              <a:buFont typeface="Arial" panose="020B0604020202020204" pitchFamily="34" charset="0"/>
              <a:buNone/>
            </a:pP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 algn="just">
              <a:lnSpc>
                <a:spcPct val="80000"/>
              </a:lnSpc>
              <a:buFont typeface="Arial" panose="020B0604020202020204" pitchFamily="34" charset="0"/>
              <a:buNone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 Validation in collaboration with medical professionals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 algn="just">
              <a:lnSpc>
                <a:spcPct val="80000"/>
              </a:lnSpc>
              <a:buFont typeface="Arial" panose="020B0604020202020204" pitchFamily="34" charset="0"/>
              <a:buNone/>
            </a:pP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 algn="just">
              <a:lnSpc>
                <a:spcPct val="80000"/>
              </a:lnSpc>
              <a:buFont typeface="Arial" panose="020B0604020202020204" pitchFamily="34" charset="0"/>
              <a:buNone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 Move towards regulatory compliance for medical AI solutions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06227" y="145809"/>
            <a:ext cx="1685925" cy="4229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CHRIST</a:t>
            </a:r>
            <a:endParaRPr sz="1400">
              <a:latin typeface="Georgia" panose="02040502050405020303"/>
              <a:cs typeface="Georgia" panose="02040502050405020303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20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Deemed</a:t>
            </a:r>
            <a:r>
              <a:rPr sz="1200" spc="-2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20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to</a:t>
            </a:r>
            <a:r>
              <a:rPr sz="1200" spc="-2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20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be</a:t>
            </a:r>
            <a:r>
              <a:rPr sz="1200" spc="-2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University</a:t>
            </a:r>
            <a:endParaRPr sz="12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65"/>
              </a:lnSpc>
            </a:pPr>
            <a:r>
              <a:rPr dirty="0"/>
              <a:t>Excellence</a:t>
            </a:r>
            <a:r>
              <a:rPr spc="-35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spc="-10" dirty="0"/>
              <a:t>Service</a:t>
            </a:r>
            <a:endParaRPr spc="-10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09679" y="1295548"/>
            <a:ext cx="7431325" cy="695584"/>
          </a:xfrm>
          <a:prstGeom prst="rect">
            <a:avLst/>
          </a:prstGeom>
        </p:spPr>
        <p:txBody>
          <a:bodyPr vert="horz" wrap="square" lIns="0" tIns="29261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2600" spc="-10" dirty="0"/>
              <a:t>REFERENCES</a:t>
            </a:r>
            <a:endParaRPr sz="2600" spc="-10" dirty="0"/>
          </a:p>
        </p:txBody>
      </p:sp>
      <p:sp>
        <p:nvSpPr>
          <p:cNvPr id="8" name="TextBox 7"/>
          <p:cNvSpPr txBox="1"/>
          <p:nvPr/>
        </p:nvSpPr>
        <p:spPr>
          <a:xfrm>
            <a:off x="457200" y="2438400"/>
            <a:ext cx="8382000" cy="4799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Artificial Intelligence (AI) for Brain Tumor Detection: Automating MRI Image Analysis for Enhanced Accuracy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Artificial Intelligence (AI): Brain Tumor Detection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An Improved AI Inspired Brain Tumor Detection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Optimizing MRI-based brain tumor classification and detection using AI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Brain Tumor Identification and Classification Using Enhanced Convolution Neural Network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06227" y="145809"/>
            <a:ext cx="1685925" cy="4229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CHRIST</a:t>
            </a:r>
            <a:endParaRPr sz="1400">
              <a:latin typeface="Georgia" panose="02040502050405020303"/>
              <a:cs typeface="Georgia" panose="02040502050405020303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20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Deemed</a:t>
            </a:r>
            <a:r>
              <a:rPr sz="1200" spc="-2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20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to</a:t>
            </a:r>
            <a:r>
              <a:rPr sz="1200" spc="-2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20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be</a:t>
            </a:r>
            <a:r>
              <a:rPr sz="1200" spc="-2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University</a:t>
            </a:r>
            <a:endParaRPr sz="12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65"/>
              </a:lnSpc>
            </a:pPr>
            <a:r>
              <a:rPr dirty="0"/>
              <a:t>Excellence</a:t>
            </a:r>
            <a:r>
              <a:rPr spc="-35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spc="-10" dirty="0"/>
              <a:t>Service</a:t>
            </a:r>
            <a:endParaRPr spc="-10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761841" y="2590800"/>
            <a:ext cx="7762558" cy="1046440"/>
          </a:xfrm>
        </p:spPr>
        <p:txBody>
          <a:bodyPr/>
          <a:p>
            <a:pPr algn="ctr"/>
            <a:r>
              <a:rPr lang="en-IN" sz="6800" dirty="0">
                <a:solidFill>
                  <a:schemeClr val="tx2"/>
                </a:solidFill>
              </a:rPr>
              <a:t>THANK YOU</a:t>
            </a:r>
            <a:endParaRPr lang="en-IN" sz="6800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4348</Words>
  <Application>WPS Presentation</Application>
  <PresentationFormat>On-screen Show (4:3)</PresentationFormat>
  <Paragraphs>175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0" baseType="lpstr">
      <vt:lpstr>Arial</vt:lpstr>
      <vt:lpstr>SimSun</vt:lpstr>
      <vt:lpstr>Wingdings</vt:lpstr>
      <vt:lpstr>Times New Roman</vt:lpstr>
      <vt:lpstr>Georgia</vt:lpstr>
      <vt:lpstr>Book Antiqua</vt:lpstr>
      <vt:lpstr>Times New Roman</vt:lpstr>
      <vt:lpstr>Microsoft YaHei</vt:lpstr>
      <vt:lpstr>Arial Unicode MS</vt:lpstr>
      <vt:lpstr>Calibri</vt:lpstr>
      <vt:lpstr>Office Theme</vt:lpstr>
      <vt:lpstr>NeuroCure  (Brain Tumour Detection Software)</vt:lpstr>
      <vt:lpstr>INTRODUCTION</vt:lpstr>
      <vt:lpstr>Labeled MRI Brain Tumor Dataset</vt:lpstr>
      <vt:lpstr>Problem Domain</vt:lpstr>
      <vt:lpstr>Why YOLOv8 is Better than Previous Models</vt:lpstr>
      <vt:lpstr>Why YOLOv8 is Better than Previous Models</vt:lpstr>
      <vt:lpstr>FUTURE OUTLOOK</vt:lpstr>
      <vt:lpstr>REFERENCES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Sethu</dc:creator>
  <cp:lastModifiedBy>Darin Johnson</cp:lastModifiedBy>
  <cp:revision>51</cp:revision>
  <dcterms:created xsi:type="dcterms:W3CDTF">2025-08-28T10:17:00Z</dcterms:created>
  <dcterms:modified xsi:type="dcterms:W3CDTF">2025-09-12T07:13:41Z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2025-03-06T16:30:00Z</vt:filetime>
  </property>
  <property fmtid="{D5CDD505-2E9C-101B-9397-08002B2CF9AE}" pid="3" name="Creator">
    <vt:lpwstr>Google</vt:lpwstr>
  </property>
  <property fmtid="{D5CDD505-2E9C-101B-9397-08002B2CF9AE}" pid="4" name="LastSaved">
    <vt:filetime>2025-03-06T16:30:00Z</vt:filetime>
  </property>
  <property fmtid="{D5CDD505-2E9C-101B-9397-08002B2CF9AE}" pid="5" name="ICV">
    <vt:lpwstr>4C3AE14586B0ED630D707768E89F89C7_43</vt:lpwstr>
  </property>
  <property fmtid="{D5CDD505-2E9C-101B-9397-08002B2CF9AE}" pid="6" name="KSOProductBuildVer">
    <vt:lpwstr>1033-12.2.0.22549</vt:lpwstr>
  </property>
</Properties>
</file>